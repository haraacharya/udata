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2">
  <p:sldMasterIdLst>
    <p:sldMasterId id="2147483679" r:id="rId4"/>
  </p:sldMasterIdLst>
  <p:notesMasterIdLst>
    <p:notesMasterId r:id="rId14"/>
  </p:notesMasterIdLst>
  <p:handoutMasterIdLst>
    <p:handoutMasterId r:id="rId15"/>
  </p:handoutMasterIdLst>
  <p:sldIdLst>
    <p:sldId id="568" r:id="rId5"/>
    <p:sldId id="575" r:id="rId6"/>
    <p:sldId id="572" r:id="rId7"/>
    <p:sldId id="576" r:id="rId8"/>
    <p:sldId id="574" r:id="rId9"/>
    <p:sldId id="573" r:id="rId10"/>
    <p:sldId id="569" r:id="rId11"/>
    <p:sldId id="566" r:id="rId12"/>
    <p:sldId id="567" r:id="rId13"/>
  </p:sldIdLst>
  <p:sldSz cx="12192000" cy="6858000"/>
  <p:notesSz cx="6858000" cy="9144000"/>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C198"/>
    <a:srgbClr val="E6E6E6"/>
    <a:srgbClr val="7FC559"/>
    <a:srgbClr val="D0CECE"/>
    <a:srgbClr val="FFFFFF"/>
    <a:srgbClr val="01B552"/>
    <a:srgbClr val="7E072E"/>
    <a:srgbClr val="64BD42"/>
    <a:srgbClr val="13809D"/>
    <a:srgbClr val="3DB0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7" autoAdjust="0"/>
    <p:restoredTop sz="89048" autoAdjust="0"/>
  </p:normalViewPr>
  <p:slideViewPr>
    <p:cSldViewPr snapToGrid="0" snapToObjects="1">
      <p:cViewPr varScale="1">
        <p:scale>
          <a:sx n="135" d="100"/>
          <a:sy n="135" d="100"/>
        </p:scale>
        <p:origin x="175" y="79"/>
      </p:cViewPr>
      <p:guideLst>
        <p:guide orient="horz" pos="2160"/>
        <p:guide pos="3840"/>
      </p:guideLst>
    </p:cSldViewPr>
  </p:slideViewPr>
  <p:outlineViewPr>
    <p:cViewPr>
      <p:scale>
        <a:sx n="33" d="100"/>
        <a:sy n="33" d="100"/>
      </p:scale>
      <p:origin x="0" y="-17672"/>
    </p:cViewPr>
  </p:outlineViewPr>
  <p:notesTextViewPr>
    <p:cViewPr>
      <p:scale>
        <a:sx n="3" d="2"/>
        <a:sy n="3" d="2"/>
      </p:scale>
      <p:origin x="0" y="0"/>
    </p:cViewPr>
  </p:notesTextViewPr>
  <p:sorterViewPr>
    <p:cViewPr varScale="1">
      <p:scale>
        <a:sx n="1" d="1"/>
        <a:sy n="1" d="1"/>
      </p:scale>
      <p:origin x="0" y="0"/>
    </p:cViewPr>
  </p:sorterViewPr>
  <p:notesViewPr>
    <p:cSldViewPr snapToGrid="0" snapToObjects="1">
      <p:cViewPr varScale="1">
        <p:scale>
          <a:sx n="54" d="100"/>
          <a:sy n="54" d="100"/>
        </p:scale>
        <p:origin x="2820"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85AE93-5841-4327-96FF-35CEBD5111C7}" type="datetimeFigureOut">
              <a:rPr lang="en-US" smtClean="0"/>
              <a:t>10/28/2019</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E22FD5-8D40-4CBE-8410-B2035D9E491F}" type="slidenum">
              <a:rPr lang="en-US" smtClean="0"/>
              <a:t>‹#›</a:t>
            </a:fld>
            <a:endParaRPr lang="en-US"/>
          </a:p>
        </p:txBody>
      </p:sp>
    </p:spTree>
    <p:extLst>
      <p:ext uri="{BB962C8B-B14F-4D97-AF65-F5344CB8AC3E}">
        <p14:creationId xmlns:p14="http://schemas.microsoft.com/office/powerpoint/2010/main" val="270560021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28T14:39:08.730"/>
    </inkml:context>
    <inkml:brush xml:id="br0">
      <inkml:brushProperty name="width" value="0.05" units="cm"/>
      <inkml:brushProperty name="height" value="0.05" units="cm"/>
    </inkml:brush>
  </inkml:definitions>
  <inkml:trace contextRef="#ctx0" brushRef="#br0">38 173 28475,'-37'-172'0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25T17:16:12.336"/>
    </inkml:context>
    <inkml:brush xml:id="br0">
      <inkml:brushProperty name="width" value="0.05" units="cm"/>
      <inkml:brushProperty name="height" value="0.05" units="cm"/>
    </inkml:brush>
  </inkml:definitions>
  <inkml:trace contextRef="#ctx0" brushRef="#br0">1 0 32767,'68'157'0,"42"-23"0,-110-134 0,124 174 0,2 0 0,-4-2 0,3 1 0,-110-101 0,39 59 0,-54-131 0,70 58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1023" units="dev"/>
          <inkml:channel name="T" type="integer" max="2.14748E9" units="dev"/>
        </inkml:traceFormat>
        <inkml:channelProperties>
          <inkml:channelProperty channel="X" name="resolution" value="1181.21851" units="1/cm"/>
          <inkml:channelProperty channel="Y" name="resolution" value="2093.73804" units="1/cm"/>
          <inkml:channelProperty channel="F" name="resolution" value="6.53591E-7" units="1/dev"/>
          <inkml:channelProperty channel="T" name="resolution" value="1" units="1/dev"/>
        </inkml:channelProperties>
      </inkml:inkSource>
      <inkml:timestamp xml:id="ts0" timeString="2019-10-28T15:03:22.661"/>
    </inkml:context>
    <inkml:brush xml:id="br0">
      <inkml:brushProperty name="width" value="0.05292" units="cm"/>
      <inkml:brushProperty name="height" value="0.05292" units="cm"/>
      <inkml:brushProperty name="color" value="#FF0000"/>
    </inkml:brush>
  </inkml:definitions>
  <inkml:trace contextRef="#ctx0" brushRef="#br0">33802 18800 1023 0,'-47'-62'0'0,"-66"41"0"0,61-41 0 0,-135-41 0 0,77 110 0 0,0 14 0 0,-50-88 0 16,213 188 0-16,-133-80 0 0,1-17 0 0,-73 15 0 0,281 29 0 0,-62-160 0 0,-10-44 0 0,-57 136 0 0,-125-71 0 15,58 54 0-15,221-3 0 0,75-26 0 16,-338 70 0-16,31 55-361 15,-18 40-98 1,88-10 649-16,8-109-190 0,-17 52 0 16,17-52 0-16,-95 50 0 15,-94 16 0-15,189-66 0 0,0 0 0 32,-56 5 0-32,56-5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25T17:07:16.940"/>
    </inkml:context>
    <inkml:brush xml:id="br0">
      <inkml:brushProperty name="width" value="0.05" units="cm"/>
      <inkml:brushProperty name="height" value="0.05" units="cm"/>
    </inkml:brush>
  </inkml:definitions>
  <inkml:trace contextRef="#ctx0" brushRef="#br0">0 0 5285,'127'43'0,"-127"-43"0,131 44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yriad Pro Regular"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yriad Pro Regular" charset="0"/>
              </a:defRPr>
            </a:lvl1pPr>
          </a:lstStyle>
          <a:p>
            <a:fld id="{16DE233D-E708-7C4E-8AA1-F5FD5AD83E74}" type="datetimeFigureOut">
              <a:rPr lang="en-US" smtClean="0"/>
              <a:pPr/>
              <a:t>10/27/2019</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yriad Pro Regular"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yriad Pro Regular" charset="0"/>
              </a:defRPr>
            </a:lvl1pPr>
          </a:lstStyle>
          <a:p>
            <a:fld id="{89AB41BC-50FE-2648-A1A9-73E972326156}" type="slidenum">
              <a:rPr lang="en-US" smtClean="0"/>
              <a:pPr/>
              <a:t>‹#›</a:t>
            </a:fld>
            <a:endParaRPr lang="en-US" dirty="0"/>
          </a:p>
        </p:txBody>
      </p:sp>
    </p:spTree>
    <p:extLst>
      <p:ext uri="{BB962C8B-B14F-4D97-AF65-F5344CB8AC3E}">
        <p14:creationId xmlns:p14="http://schemas.microsoft.com/office/powerpoint/2010/main" val="673637436"/>
      </p:ext>
    </p:extLst>
  </p:cSld>
  <p:clrMap bg1="lt1" tx1="dk1" bg2="lt2" tx2="dk2" accent1="accent1" accent2="accent2" accent3="accent3" accent4="accent4" accent5="accent5" accent6="accent6" hlink="hlink" folHlink="folHlink"/>
  <p:notesStyle>
    <a:lvl1pPr marL="0" algn="l" defTabSz="1219170" rtl="0" eaLnBrk="1" latinLnBrk="0" hangingPunct="1">
      <a:defRPr sz="1600" b="0" i="0" kern="1200">
        <a:solidFill>
          <a:schemeClr val="tx1"/>
        </a:solidFill>
        <a:latin typeface="Myriad Pro Regular" charset="0"/>
        <a:ea typeface="+mn-ea"/>
        <a:cs typeface="+mn-cs"/>
      </a:defRPr>
    </a:lvl1pPr>
    <a:lvl2pPr marL="609585" algn="l" defTabSz="1219170" rtl="0" eaLnBrk="1" latinLnBrk="0" hangingPunct="1">
      <a:defRPr sz="1600" b="0" i="0" kern="1200">
        <a:solidFill>
          <a:schemeClr val="tx1"/>
        </a:solidFill>
        <a:latin typeface="Myriad Pro Regular" charset="0"/>
        <a:ea typeface="+mn-ea"/>
        <a:cs typeface="+mn-cs"/>
      </a:defRPr>
    </a:lvl2pPr>
    <a:lvl3pPr marL="1219170" algn="l" defTabSz="1219170" rtl="0" eaLnBrk="1" latinLnBrk="0" hangingPunct="1">
      <a:defRPr sz="1600" b="0" i="0" kern="1200">
        <a:solidFill>
          <a:schemeClr val="tx1"/>
        </a:solidFill>
        <a:latin typeface="Myriad Pro Regular" charset="0"/>
        <a:ea typeface="+mn-ea"/>
        <a:cs typeface="+mn-cs"/>
      </a:defRPr>
    </a:lvl3pPr>
    <a:lvl4pPr marL="1828754" algn="l" defTabSz="1219170" rtl="0" eaLnBrk="1" latinLnBrk="0" hangingPunct="1">
      <a:defRPr sz="1600" b="0" i="0" kern="1200">
        <a:solidFill>
          <a:schemeClr val="tx1"/>
        </a:solidFill>
        <a:latin typeface="Myriad Pro Regular" charset="0"/>
        <a:ea typeface="+mn-ea"/>
        <a:cs typeface="+mn-cs"/>
      </a:defRPr>
    </a:lvl4pPr>
    <a:lvl5pPr marL="2438339" algn="l" defTabSz="1219170" rtl="0" eaLnBrk="1" latinLnBrk="0" hangingPunct="1">
      <a:defRPr sz="1600" b="0" i="0" kern="1200">
        <a:solidFill>
          <a:schemeClr val="tx1"/>
        </a:solidFill>
        <a:latin typeface="Myriad Pro Regular"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page numbers</a:t>
            </a:r>
          </a:p>
        </p:txBody>
      </p:sp>
      <p:sp>
        <p:nvSpPr>
          <p:cNvPr id="4" name="Slide Number Placeholder 3"/>
          <p:cNvSpPr>
            <a:spLocks noGrp="1"/>
          </p:cNvSpPr>
          <p:nvPr>
            <p:ph type="sldNum" sz="quarter" idx="10"/>
          </p:nvPr>
        </p:nvSpPr>
        <p:spPr/>
        <p:txBody>
          <a:bodyPr/>
          <a:lstStyle/>
          <a:p>
            <a:fld id="{89AB41BC-50FE-2648-A1A9-73E972326156}" type="slidenum">
              <a:rPr lang="en-US" smtClean="0"/>
              <a:pPr/>
              <a:t>1</a:t>
            </a:fld>
            <a:endParaRPr lang="en-US" dirty="0"/>
          </a:p>
        </p:txBody>
      </p:sp>
    </p:spTree>
    <p:extLst>
      <p:ext uri="{BB962C8B-B14F-4D97-AF65-F5344CB8AC3E}">
        <p14:creationId xmlns:p14="http://schemas.microsoft.com/office/powerpoint/2010/main" val="2089504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AB41BC-50FE-2648-A1A9-73E972326156}" type="slidenum">
              <a:rPr lang="en-US" smtClean="0"/>
              <a:pPr/>
              <a:t>2</a:t>
            </a:fld>
            <a:endParaRPr lang="en-US" dirty="0"/>
          </a:p>
        </p:txBody>
      </p:sp>
    </p:spTree>
    <p:extLst>
      <p:ext uri="{BB962C8B-B14F-4D97-AF65-F5344CB8AC3E}">
        <p14:creationId xmlns:p14="http://schemas.microsoft.com/office/powerpoint/2010/main" val="3770210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892894" rtl="0" eaLnBrk="1" fontAlgn="auto" latinLnBrk="0" hangingPunct="1">
              <a:lnSpc>
                <a:spcPct val="100000"/>
              </a:lnSpc>
              <a:spcBef>
                <a:spcPts val="0"/>
              </a:spcBef>
              <a:spcAft>
                <a:spcPts val="0"/>
              </a:spcAft>
              <a:buClrTx/>
              <a:buSzTx/>
              <a:buFontTx/>
              <a:buNone/>
              <a:tabLst/>
              <a:defRPr/>
            </a:pPr>
            <a:fld id="{E13E07A1-2926-49B1-9231-67F85B6D590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892894"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630998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ust-global.com/"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Option 1a">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93F2DF5-688E-443B-BCB5-9E05FD7CE97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FD468FEB-D7DC-452F-AB2C-7D88FEA18729}"/>
              </a:ext>
            </a:extLst>
          </p:cNvPr>
          <p:cNvSpPr/>
          <p:nvPr userDrawn="1"/>
        </p:nvSpPr>
        <p:spPr>
          <a:xfrm>
            <a:off x="6096000" y="2921001"/>
            <a:ext cx="6096000" cy="2813296"/>
          </a:xfrm>
          <a:prstGeom prst="rect">
            <a:avLst/>
          </a:prstGeom>
          <a:solidFill>
            <a:srgbClr val="111D2D">
              <a:alpha val="7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rgbClr val="B88544"/>
              </a:solidFill>
              <a:latin typeface="Franklin Gothic Demi Cond" panose="020B0706030402020204" pitchFamily="34" charset="0"/>
            </a:endParaRPr>
          </a:p>
          <a:p>
            <a:pPr algn="ctr"/>
            <a:endParaRPr lang="en-US" sz="3200" dirty="0">
              <a:solidFill>
                <a:srgbClr val="B88544"/>
              </a:solidFill>
              <a:latin typeface="Franklin Gothic Demi Cond" panose="020B0706030402020204" pitchFamily="34" charset="0"/>
            </a:endParaRPr>
          </a:p>
          <a:p>
            <a:pPr algn="ctr"/>
            <a:endParaRPr lang="en-US" sz="3200" dirty="0">
              <a:solidFill>
                <a:srgbClr val="B88544"/>
              </a:solidFill>
              <a:latin typeface="Franklin Gothic Demi Cond" panose="020B0706030402020204" pitchFamily="34" charset="0"/>
            </a:endParaRPr>
          </a:p>
          <a:p>
            <a:pPr algn="ctr"/>
            <a:endParaRPr lang="en-US" sz="3200" dirty="0">
              <a:solidFill>
                <a:srgbClr val="B88544"/>
              </a:solidFill>
              <a:latin typeface="Franklin Gothic Demi Cond" panose="020B0706030402020204" pitchFamily="34" charset="0"/>
            </a:endParaRPr>
          </a:p>
          <a:p>
            <a:pPr algn="ctr"/>
            <a:endParaRPr lang="en-US" sz="3200" dirty="0">
              <a:solidFill>
                <a:srgbClr val="B88544"/>
              </a:solidFill>
              <a:latin typeface="Franklin Gothic Demi Cond" panose="020B0706030402020204" pitchFamily="34" charset="0"/>
            </a:endParaRPr>
          </a:p>
          <a:p>
            <a:pPr algn="ctr"/>
            <a:r>
              <a:rPr lang="en-US" sz="3200" dirty="0">
                <a:solidFill>
                  <a:schemeClr val="bg2"/>
                </a:solidFill>
                <a:latin typeface="Franklin Gothic Medium Cond" panose="020B0606030402020204" pitchFamily="34" charset="0"/>
              </a:rPr>
              <a:t>	</a:t>
            </a:r>
          </a:p>
        </p:txBody>
      </p:sp>
      <p:pic>
        <p:nvPicPr>
          <p:cNvPr id="10" name="Picture 9">
            <a:extLst>
              <a:ext uri="{FF2B5EF4-FFF2-40B4-BE49-F238E27FC236}">
                <a16:creationId xmlns:a16="http://schemas.microsoft.com/office/drawing/2014/main" id="{17B92942-5D9A-4263-BA7B-907A272A5F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3809" y="327885"/>
            <a:ext cx="1366171" cy="800876"/>
          </a:xfrm>
          <a:prstGeom prst="rect">
            <a:avLst/>
          </a:prstGeom>
        </p:spPr>
      </p:pic>
      <p:pic>
        <p:nvPicPr>
          <p:cNvPr id="13" name="Picture 12">
            <a:extLst>
              <a:ext uri="{FF2B5EF4-FFF2-40B4-BE49-F238E27FC236}">
                <a16:creationId xmlns:a16="http://schemas.microsoft.com/office/drawing/2014/main" id="{4A3EF73D-BCCE-4719-BEA0-22237A5496D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942892" y="327885"/>
            <a:ext cx="1765300" cy="693425"/>
          </a:xfrm>
          <a:prstGeom prst="rect">
            <a:avLst/>
          </a:prstGeom>
        </p:spPr>
      </p:pic>
    </p:spTree>
    <p:extLst>
      <p:ext uri="{BB962C8B-B14F-4D97-AF65-F5344CB8AC3E}">
        <p14:creationId xmlns:p14="http://schemas.microsoft.com/office/powerpoint/2010/main" val="193090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Large Diagram/Image Page">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22D6E5C6-2931-42F8-B3C7-3FA8A5E71004}"/>
              </a:ext>
            </a:extLst>
          </p:cNvPr>
          <p:cNvSpPr>
            <a:spLocks noGrp="1"/>
          </p:cNvSpPr>
          <p:nvPr>
            <p:ph type="title"/>
          </p:nvPr>
        </p:nvSpPr>
        <p:spPr>
          <a:xfrm>
            <a:off x="1021617" y="275120"/>
            <a:ext cx="9684000" cy="492443"/>
          </a:xfrm>
          <a:prstGeom prst="rect">
            <a:avLst/>
          </a:prstGeom>
        </p:spPr>
        <p:txBody>
          <a:bodyPr/>
          <a:lstStyle>
            <a:lvl1pPr>
              <a:defRPr lang="en-US" sz="2667" dirty="0">
                <a:solidFill>
                  <a:schemeClr val="tx1"/>
                </a:solidFill>
              </a:defRPr>
            </a:lvl1pPr>
          </a:lstStyle>
          <a:p>
            <a:pPr lvl="0"/>
            <a:endParaRPr lang="en-US" dirty="0"/>
          </a:p>
        </p:txBody>
      </p:sp>
      <p:grpSp>
        <p:nvGrpSpPr>
          <p:cNvPr id="4" name="Group 3">
            <a:extLst>
              <a:ext uri="{FF2B5EF4-FFF2-40B4-BE49-F238E27FC236}">
                <a16:creationId xmlns:a16="http://schemas.microsoft.com/office/drawing/2014/main" id="{20AFADC6-B1DA-4120-B2F0-0188F5F64FF0}"/>
              </a:ext>
            </a:extLst>
          </p:cNvPr>
          <p:cNvGrpSpPr/>
          <p:nvPr userDrawn="1"/>
        </p:nvGrpSpPr>
        <p:grpSpPr>
          <a:xfrm>
            <a:off x="156000" y="164324"/>
            <a:ext cx="11880000" cy="478114"/>
            <a:chOff x="156000" y="164324"/>
            <a:chExt cx="11880000" cy="478114"/>
          </a:xfrm>
        </p:grpSpPr>
        <p:pic>
          <p:nvPicPr>
            <p:cNvPr id="6" name="Picture 5">
              <a:extLst>
                <a:ext uri="{FF2B5EF4-FFF2-40B4-BE49-F238E27FC236}">
                  <a16:creationId xmlns:a16="http://schemas.microsoft.com/office/drawing/2014/main" id="{5F8CB8F4-DAB5-4C0F-8179-4BCFE7FF0C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6000" y="164324"/>
              <a:ext cx="815589" cy="478114"/>
            </a:xfrm>
            <a:prstGeom prst="rect">
              <a:avLst/>
            </a:prstGeom>
          </p:spPr>
        </p:pic>
        <p:pic>
          <p:nvPicPr>
            <p:cNvPr id="7" name="Picture 6">
              <a:extLst>
                <a:ext uri="{FF2B5EF4-FFF2-40B4-BE49-F238E27FC236}">
                  <a16:creationId xmlns:a16="http://schemas.microsoft.com/office/drawing/2014/main" id="{756F3865-35B7-4A1C-B9EA-66A32F6D3D0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18831" y="164324"/>
              <a:ext cx="1217169" cy="478114"/>
            </a:xfrm>
            <a:prstGeom prst="rect">
              <a:avLst/>
            </a:prstGeom>
          </p:spPr>
        </p:pic>
      </p:grpSp>
    </p:spTree>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3" name="Title 3">
            <a:extLst/>
          </p:cNvPr>
          <p:cNvSpPr>
            <a:spLocks noGrp="1"/>
          </p:cNvSpPr>
          <p:nvPr>
            <p:ph type="title"/>
          </p:nvPr>
        </p:nvSpPr>
        <p:spPr>
          <a:xfrm>
            <a:off x="1021617" y="275120"/>
            <a:ext cx="9684000" cy="492443"/>
          </a:xfrm>
          <a:prstGeom prst="rect">
            <a:avLst/>
          </a:prstGeom>
        </p:spPr>
        <p:txBody>
          <a:bodyPr/>
          <a:lstStyle>
            <a:lvl1pPr>
              <a:defRPr lang="en-US" sz="2667" dirty="0">
                <a:solidFill>
                  <a:schemeClr val="tx1"/>
                </a:solidFill>
              </a:defRPr>
            </a:lvl1pPr>
          </a:lstStyle>
          <a:p>
            <a:pPr lvl="0"/>
            <a:endParaRPr lang="en-US" dirty="0"/>
          </a:p>
        </p:txBody>
      </p:sp>
      <p:grpSp>
        <p:nvGrpSpPr>
          <p:cNvPr id="4" name="Group 3">
            <a:extLst>
              <a:ext uri="{FF2B5EF4-FFF2-40B4-BE49-F238E27FC236}">
                <a16:creationId xmlns:a16="http://schemas.microsoft.com/office/drawing/2014/main" id="{DCEE8630-947B-464C-BBEC-DCD4944601AF}"/>
              </a:ext>
            </a:extLst>
          </p:cNvPr>
          <p:cNvGrpSpPr/>
          <p:nvPr userDrawn="1"/>
        </p:nvGrpSpPr>
        <p:grpSpPr>
          <a:xfrm>
            <a:off x="156000" y="164324"/>
            <a:ext cx="11880000" cy="478114"/>
            <a:chOff x="156000" y="164324"/>
            <a:chExt cx="11880000" cy="478114"/>
          </a:xfrm>
        </p:grpSpPr>
        <p:pic>
          <p:nvPicPr>
            <p:cNvPr id="6" name="Picture 5">
              <a:extLst>
                <a:ext uri="{FF2B5EF4-FFF2-40B4-BE49-F238E27FC236}">
                  <a16:creationId xmlns:a16="http://schemas.microsoft.com/office/drawing/2014/main" id="{EAB5D9AB-2515-46C5-8B59-DA4D82357D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6000" y="164324"/>
              <a:ext cx="815589" cy="478114"/>
            </a:xfrm>
            <a:prstGeom prst="rect">
              <a:avLst/>
            </a:prstGeom>
          </p:spPr>
        </p:pic>
        <p:pic>
          <p:nvPicPr>
            <p:cNvPr id="7" name="Picture 6">
              <a:extLst>
                <a:ext uri="{FF2B5EF4-FFF2-40B4-BE49-F238E27FC236}">
                  <a16:creationId xmlns:a16="http://schemas.microsoft.com/office/drawing/2014/main" id="{5814EB87-A164-457C-B76F-76D2C6C7780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18831" y="164324"/>
              <a:ext cx="1217169" cy="478114"/>
            </a:xfrm>
            <a:prstGeom prst="rect">
              <a:avLst/>
            </a:prstGeom>
          </p:spPr>
        </p:pic>
      </p:grpSp>
    </p:spTree>
    <p:extLst>
      <p:ext uri="{BB962C8B-B14F-4D97-AF65-F5344CB8AC3E}">
        <p14:creationId xmlns:p14="http://schemas.microsoft.com/office/powerpoint/2010/main" val="1438515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Story Telling_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4BECE55-A9A5-4E38-9CBD-D2B237653F74}"/>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11" name="Picture 10">
            <a:extLst>
              <a:ext uri="{FF2B5EF4-FFF2-40B4-BE49-F238E27FC236}">
                <a16:creationId xmlns:a16="http://schemas.microsoft.com/office/drawing/2014/main" id="{E660D15B-E1DF-4D3D-A8F1-4179899B319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69800" y="164324"/>
            <a:ext cx="1852400" cy="1085914"/>
          </a:xfrm>
          <a:prstGeom prst="rect">
            <a:avLst/>
          </a:prstGeom>
        </p:spPr>
      </p:pic>
      <p:sp>
        <p:nvSpPr>
          <p:cNvPr id="12" name="Title 3">
            <a:extLst>
              <a:ext uri="{FF2B5EF4-FFF2-40B4-BE49-F238E27FC236}">
                <a16:creationId xmlns:a16="http://schemas.microsoft.com/office/drawing/2014/main" id="{E83093B7-4E2E-4B3B-B118-08FDCDDB879D}"/>
              </a:ext>
            </a:extLst>
          </p:cNvPr>
          <p:cNvSpPr>
            <a:spLocks noGrp="1"/>
          </p:cNvSpPr>
          <p:nvPr>
            <p:ph type="title"/>
          </p:nvPr>
        </p:nvSpPr>
        <p:spPr>
          <a:xfrm>
            <a:off x="8817" y="2965302"/>
            <a:ext cx="12174366" cy="1778000"/>
          </a:xfrm>
          <a:prstGeom prst="rect">
            <a:avLst/>
          </a:prstGeom>
          <a:gradFill flip="none" rotWithShape="1">
            <a:gsLst>
              <a:gs pos="0">
                <a:srgbClr val="017B9E">
                  <a:alpha val="88000"/>
                </a:srgbClr>
              </a:gs>
              <a:gs pos="100000">
                <a:srgbClr val="7EC242">
                  <a:alpha val="75000"/>
                </a:srgbClr>
              </a:gs>
            </a:gsLst>
            <a:lin ang="0" scaled="0"/>
            <a:tileRect/>
          </a:gradFill>
        </p:spPr>
        <p:txBody>
          <a:bodyPr anchor="ctr">
            <a:noAutofit/>
          </a:bodyPr>
          <a:lstStyle>
            <a:lvl1pPr algn="ctr">
              <a:defRPr lang="en-US" sz="4000" dirty="0">
                <a:solidFill>
                  <a:schemeClr val="bg1"/>
                </a:solidFill>
                <a:latin typeface="+mj-lt"/>
              </a:defRPr>
            </a:lvl1pPr>
          </a:lstStyle>
          <a:p>
            <a:pPr lvl="0"/>
            <a:endParaRPr lang="en-US" dirty="0"/>
          </a:p>
        </p:txBody>
      </p:sp>
    </p:spTree>
    <p:extLst>
      <p:ext uri="{BB962C8B-B14F-4D97-AF65-F5344CB8AC3E}">
        <p14:creationId xmlns:p14="http://schemas.microsoft.com/office/powerpoint/2010/main" val="3711393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ank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5A1C8F-8F7D-412F-8501-1A68A8514B6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5667"/>
          <a:stretch/>
        </p:blipFill>
        <p:spPr>
          <a:xfrm>
            <a:off x="0" y="0"/>
            <a:ext cx="12192000" cy="6858000"/>
          </a:xfrm>
          <a:prstGeom prst="rect">
            <a:avLst/>
          </a:prstGeom>
        </p:spPr>
      </p:pic>
    </p:spTree>
    <p:extLst>
      <p:ext uri="{BB962C8B-B14F-4D97-AF65-F5344CB8AC3E}">
        <p14:creationId xmlns:p14="http://schemas.microsoft.com/office/powerpoint/2010/main" val="107717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pyrigh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8AC9E47-F8AF-446B-9B72-A4BD62791DD0}"/>
              </a:ext>
            </a:extLst>
          </p:cNvPr>
          <p:cNvGrpSpPr/>
          <p:nvPr userDrawn="1"/>
        </p:nvGrpSpPr>
        <p:grpSpPr>
          <a:xfrm>
            <a:off x="492285" y="1073418"/>
            <a:ext cx="11207431" cy="4711165"/>
            <a:chOff x="544303" y="988893"/>
            <a:chExt cx="11207431" cy="4711165"/>
          </a:xfrm>
        </p:grpSpPr>
        <p:sp>
          <p:nvSpPr>
            <p:cNvPr id="13" name="TextBox 12">
              <a:extLst>
                <a:ext uri="{FF2B5EF4-FFF2-40B4-BE49-F238E27FC236}">
                  <a16:creationId xmlns:a16="http://schemas.microsoft.com/office/drawing/2014/main" id="{7BB3C080-89B9-486B-B026-2D0E199D6404}"/>
                </a:ext>
              </a:extLst>
            </p:cNvPr>
            <p:cNvSpPr txBox="1"/>
            <p:nvPr userDrawn="1"/>
          </p:nvSpPr>
          <p:spPr>
            <a:xfrm>
              <a:off x="544303" y="988893"/>
              <a:ext cx="11207431" cy="3033959"/>
            </a:xfrm>
            <a:prstGeom prst="rect">
              <a:avLst/>
            </a:prstGeom>
            <a:noFill/>
          </p:spPr>
          <p:txBody>
            <a:bodyPr wrap="square" lIns="119053" tIns="59525" rIns="119053" bIns="59525" rtlCol="0">
              <a:spAutoFit/>
            </a:bodyPr>
            <a:lstStyle/>
            <a:p>
              <a:pPr algn="r">
                <a:defRPr/>
              </a:pPr>
              <a:r>
                <a:rPr lang="en-US" sz="2400" b="0" dirty="0">
                  <a:solidFill>
                    <a:srgbClr val="017B9E"/>
                  </a:solidFill>
                  <a:latin typeface="Franklin Gothic Medium" panose="020B0603020102020204" pitchFamily="34" charset="0"/>
                  <a:cs typeface="Helvetica" panose="020B0604020202020204" pitchFamily="34" charset="0"/>
                </a:rPr>
                <a:t>Copyright and Confidentiality Notice</a:t>
              </a:r>
            </a:p>
            <a:p>
              <a:pPr algn="just"/>
              <a:endParaRPr lang="en-US" sz="1867" dirty="0">
                <a:solidFill>
                  <a:srgbClr val="0067B1"/>
                </a:solidFill>
                <a:latin typeface="+mn-lt"/>
                <a:cs typeface="Helvetica" panose="020B0604020202020204" pitchFamily="34" charset="0"/>
              </a:endParaRPr>
            </a:p>
            <a:p>
              <a:pPr algn="just"/>
              <a:endParaRPr lang="en-US" sz="1867" dirty="0">
                <a:solidFill>
                  <a:srgbClr val="0067B1"/>
                </a:solidFill>
                <a:latin typeface="+mn-lt"/>
                <a:cs typeface="Helvetica" panose="020B0604020202020204" pitchFamily="34" charset="0"/>
              </a:endParaRPr>
            </a:p>
            <a:p>
              <a:pPr algn="just"/>
              <a:r>
                <a:rPr lang="en-US" sz="1600" dirty="0">
                  <a:solidFill>
                    <a:schemeClr val="tx2">
                      <a:lumMod val="75000"/>
                    </a:schemeClr>
                  </a:solidFill>
                  <a:latin typeface="Franklin Gothic Book" panose="020B0503020102020204" pitchFamily="34" charset="0"/>
                  <a:cs typeface="Helvetica" panose="020B0604020202020204" pitchFamily="34" charset="0"/>
                </a:rPr>
                <a:t>Copyright © 2019 by UST Global Inc. All rights reserved. 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a:t>
              </a:r>
            </a:p>
            <a:p>
              <a:pPr algn="just"/>
              <a:r>
                <a:rPr lang="en-US" sz="1600" dirty="0">
                  <a:solidFill>
                    <a:schemeClr val="tx2">
                      <a:lumMod val="75000"/>
                    </a:schemeClr>
                  </a:solidFill>
                  <a:latin typeface="Franklin Gothic Book" panose="020B0503020102020204" pitchFamily="34" charset="0"/>
                  <a:cs typeface="Helvetica" panose="020B0604020202020204" pitchFamily="34" charset="0"/>
                </a:rPr>
                <a:t>UST Global Inc.</a:t>
              </a:r>
            </a:p>
            <a:p>
              <a:pPr algn="just"/>
              <a:endParaRPr lang="en-US" sz="1600" dirty="0">
                <a:solidFill>
                  <a:schemeClr val="tx2">
                    <a:lumMod val="75000"/>
                  </a:schemeClr>
                </a:solidFill>
                <a:latin typeface="Franklin Gothic Book" panose="020B0503020102020204" pitchFamily="34" charset="0"/>
                <a:cs typeface="Helvetica" panose="020B0604020202020204" pitchFamily="34" charset="0"/>
              </a:endParaRPr>
            </a:p>
            <a:p>
              <a:pPr algn="just"/>
              <a:r>
                <a:rPr lang="en-US" sz="1600" dirty="0">
                  <a:solidFill>
                    <a:schemeClr val="tx2">
                      <a:lumMod val="75000"/>
                    </a:schemeClr>
                  </a:solidFill>
                  <a:latin typeface="Franklin Gothic Book" panose="020B0503020102020204" pitchFamily="34" charset="0"/>
                  <a:cs typeface="Helvetica" panose="020B0604020202020204" pitchFamily="34" charset="0"/>
                </a:rPr>
                <a:t>UST Global</a:t>
              </a:r>
              <a:r>
                <a:rPr lang="en-US" sz="1600" baseline="30000" dirty="0">
                  <a:solidFill>
                    <a:schemeClr val="tx2">
                      <a:lumMod val="75000"/>
                    </a:schemeClr>
                  </a:solidFill>
                  <a:latin typeface="Franklin Gothic Book" panose="020B0503020102020204" pitchFamily="34" charset="0"/>
                  <a:cs typeface="Helvetica" panose="020B0604020202020204" pitchFamily="34" charset="0"/>
                </a:rPr>
                <a:t>®</a:t>
              </a:r>
              <a:r>
                <a:rPr lang="en-US" sz="1600" dirty="0">
                  <a:solidFill>
                    <a:schemeClr val="tx2">
                      <a:lumMod val="75000"/>
                    </a:schemeClr>
                  </a:solidFill>
                  <a:latin typeface="Franklin Gothic Book" panose="020B0503020102020204" pitchFamily="34" charset="0"/>
                  <a:cs typeface="Helvetica" panose="020B0604020202020204" pitchFamily="34" charset="0"/>
                </a:rPr>
                <a:t> is a registered service mark of UST Global Inc</a:t>
              </a:r>
            </a:p>
          </p:txBody>
        </p:sp>
        <p:sp>
          <p:nvSpPr>
            <p:cNvPr id="14" name="TextBox 13">
              <a:extLst>
                <a:ext uri="{FF2B5EF4-FFF2-40B4-BE49-F238E27FC236}">
                  <a16:creationId xmlns:a16="http://schemas.microsoft.com/office/drawing/2014/main" id="{3393FD28-91A4-4ACE-80D7-80AEBACD080E}"/>
                </a:ext>
              </a:extLst>
            </p:cNvPr>
            <p:cNvSpPr txBox="1"/>
            <p:nvPr userDrawn="1"/>
          </p:nvSpPr>
          <p:spPr>
            <a:xfrm>
              <a:off x="567182" y="4102518"/>
              <a:ext cx="3283943" cy="1597540"/>
            </a:xfrm>
            <a:prstGeom prst="rect">
              <a:avLst/>
            </a:prstGeom>
            <a:noFill/>
          </p:spPr>
          <p:txBody>
            <a:bodyPr wrap="square" lIns="119053" tIns="59525" rIns="119053" bIns="59525" rtlCol="0">
              <a:spAutoFit/>
            </a:bodyPr>
            <a:lstStyle/>
            <a:p>
              <a:r>
                <a:rPr lang="en-US" sz="1600" dirty="0">
                  <a:solidFill>
                    <a:schemeClr val="tx2">
                      <a:lumMod val="75000"/>
                    </a:schemeClr>
                  </a:solidFill>
                  <a:latin typeface="Franklin Gothic Medium" panose="020B0603020102020204" pitchFamily="34" charset="0"/>
                  <a:cs typeface="Helvetica" panose="020B0604020202020204" pitchFamily="34" charset="0"/>
                </a:rPr>
                <a:t>UST Global</a:t>
              </a:r>
            </a:p>
            <a:p>
              <a:r>
                <a:rPr lang="en-US" sz="1600" dirty="0">
                  <a:solidFill>
                    <a:schemeClr val="tx2">
                      <a:lumMod val="75000"/>
                    </a:schemeClr>
                  </a:solidFill>
                  <a:latin typeface="Franklin Gothic Book" panose="020B0503020102020204" pitchFamily="34" charset="0"/>
                  <a:cs typeface="Helvetica" panose="020B0604020202020204" pitchFamily="34" charset="0"/>
                </a:rPr>
                <a:t>5 Polaris Way</a:t>
              </a:r>
            </a:p>
            <a:p>
              <a:r>
                <a:rPr lang="en-US" sz="1600" dirty="0">
                  <a:solidFill>
                    <a:schemeClr val="tx2">
                      <a:lumMod val="75000"/>
                    </a:schemeClr>
                  </a:solidFill>
                  <a:latin typeface="Franklin Gothic Book" panose="020B0503020102020204" pitchFamily="34" charset="0"/>
                  <a:cs typeface="Helvetica" panose="020B0604020202020204" pitchFamily="34" charset="0"/>
                </a:rPr>
                <a:t>Aliso Viejo, CA 92656</a:t>
              </a:r>
            </a:p>
            <a:p>
              <a:r>
                <a:rPr lang="en-US" sz="1600" dirty="0">
                  <a:solidFill>
                    <a:schemeClr val="tx2">
                      <a:lumMod val="75000"/>
                    </a:schemeClr>
                  </a:solidFill>
                  <a:latin typeface="Franklin Gothic Book" panose="020B0503020102020204" pitchFamily="34" charset="0"/>
                  <a:cs typeface="Helvetica" panose="020B0604020202020204" pitchFamily="34" charset="0"/>
                </a:rPr>
                <a:t>Tel: 949.716.8757</a:t>
              </a:r>
            </a:p>
            <a:p>
              <a:r>
                <a:rPr lang="en-US" sz="1600" dirty="0">
                  <a:solidFill>
                    <a:schemeClr val="tx2">
                      <a:lumMod val="75000"/>
                    </a:schemeClr>
                  </a:solidFill>
                  <a:latin typeface="Franklin Gothic Book" panose="020B0503020102020204" pitchFamily="34" charset="0"/>
                  <a:cs typeface="Helvetica" panose="020B0604020202020204" pitchFamily="34" charset="0"/>
                </a:rPr>
                <a:t>Fax: 949.716.8396</a:t>
              </a:r>
            </a:p>
            <a:p>
              <a:r>
                <a:rPr lang="en-US" sz="1600" u="sng" dirty="0">
                  <a:solidFill>
                    <a:srgbClr val="00AEEF"/>
                  </a:solidFill>
                  <a:latin typeface="Franklin Gothic Book" panose="020B0503020102020204" pitchFamily="34" charset="0"/>
                  <a:cs typeface="Helvetica" panose="020B0604020202020204" pitchFamily="34" charset="0"/>
                  <a:hlinkClick r:id="rId2"/>
                </a:rPr>
                <a:t>www.ust-global.com</a:t>
              </a:r>
              <a:endParaRPr lang="en-US" sz="1600" dirty="0">
                <a:solidFill>
                  <a:srgbClr val="00AEEF"/>
                </a:solidFill>
                <a:latin typeface="Franklin Gothic Book" panose="020B0503020102020204" pitchFamily="34" charset="0"/>
                <a:cs typeface="Helvetica" panose="020B0604020202020204" pitchFamily="34" charset="0"/>
              </a:endParaRPr>
            </a:p>
          </p:txBody>
        </p:sp>
      </p:grpSp>
    </p:spTree>
    <p:extLst>
      <p:ext uri="{BB962C8B-B14F-4D97-AF65-F5344CB8AC3E}">
        <p14:creationId xmlns:p14="http://schemas.microsoft.com/office/powerpoint/2010/main" val="972170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296B2F1-5FD5-461A-93C3-2B84478BDF36}"/>
              </a:ext>
            </a:extLst>
          </p:cNvPr>
          <p:cNvGrpSpPr/>
          <p:nvPr userDrawn="1"/>
        </p:nvGrpSpPr>
        <p:grpSpPr>
          <a:xfrm>
            <a:off x="3046" y="0"/>
            <a:ext cx="12208260" cy="6858000"/>
            <a:chOff x="-19307" y="0"/>
            <a:chExt cx="12208260" cy="6858000"/>
          </a:xfrm>
        </p:grpSpPr>
        <p:sp>
          <p:nvSpPr>
            <p:cNvPr id="6" name="Rectangle 5">
              <a:extLst>
                <a:ext uri="{FF2B5EF4-FFF2-40B4-BE49-F238E27FC236}">
                  <a16:creationId xmlns:a16="http://schemas.microsoft.com/office/drawing/2014/main" id="{36AEF267-019C-4B5D-888B-63B3C4500EE6}"/>
                </a:ext>
              </a:extLst>
            </p:cNvPr>
            <p:cNvSpPr/>
            <p:nvPr userDrawn="1"/>
          </p:nvSpPr>
          <p:spPr>
            <a:xfrm>
              <a:off x="-19307" y="0"/>
              <a:ext cx="1218590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B681CE25-4B5A-4866-A095-74BCAB2C5C89}"/>
                </a:ext>
              </a:extLst>
            </p:cNvPr>
            <p:cNvPicPr>
              <a:picLocks noChangeAspect="1"/>
            </p:cNvPicPr>
            <p:nvPr userDrawn="1"/>
          </p:nvPicPr>
          <p:blipFill rotWithShape="1">
            <a:blip r:embed="rId2"/>
            <a:srcRect b="36092"/>
            <a:stretch/>
          </p:blipFill>
          <p:spPr>
            <a:xfrm>
              <a:off x="3046" y="2477438"/>
              <a:ext cx="12185907" cy="4380562"/>
            </a:xfrm>
            <a:prstGeom prst="rect">
              <a:avLst/>
            </a:prstGeom>
            <a:solidFill>
              <a:schemeClr val="bg1"/>
            </a:solidFill>
          </p:spPr>
        </p:pic>
      </p:grpSp>
      <p:pic>
        <p:nvPicPr>
          <p:cNvPr id="8" name="Picture 7">
            <a:extLst>
              <a:ext uri="{FF2B5EF4-FFF2-40B4-BE49-F238E27FC236}">
                <a16:creationId xmlns:a16="http://schemas.microsoft.com/office/drawing/2014/main" id="{1136F862-3F68-4AA6-803B-D0AB180D40E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169800" y="164324"/>
            <a:ext cx="1852400" cy="1085914"/>
          </a:xfrm>
          <a:prstGeom prst="rect">
            <a:avLst/>
          </a:prstGeom>
        </p:spPr>
      </p:pic>
      <p:sp>
        <p:nvSpPr>
          <p:cNvPr id="11" name="Title 3">
            <a:extLst>
              <a:ext uri="{FF2B5EF4-FFF2-40B4-BE49-F238E27FC236}">
                <a16:creationId xmlns:a16="http://schemas.microsoft.com/office/drawing/2014/main" id="{94806B1F-2A06-43D7-B610-68C0FBFF6FE8}"/>
              </a:ext>
            </a:extLst>
          </p:cNvPr>
          <p:cNvSpPr>
            <a:spLocks noGrp="1"/>
          </p:cNvSpPr>
          <p:nvPr>
            <p:ph type="title"/>
          </p:nvPr>
        </p:nvSpPr>
        <p:spPr>
          <a:xfrm>
            <a:off x="8817" y="1778000"/>
            <a:ext cx="12174366" cy="862523"/>
          </a:xfrm>
          <a:prstGeom prst="rect">
            <a:avLst/>
          </a:prstGeom>
          <a:gradFill flip="none" rotWithShape="1">
            <a:gsLst>
              <a:gs pos="0">
                <a:srgbClr val="017B9E"/>
              </a:gs>
              <a:gs pos="100000">
                <a:srgbClr val="7EC242"/>
              </a:gs>
            </a:gsLst>
            <a:lin ang="0" scaled="0"/>
            <a:tileRect/>
          </a:gradFill>
        </p:spPr>
        <p:txBody>
          <a:bodyPr anchor="ctr">
            <a:noAutofit/>
          </a:bodyPr>
          <a:lstStyle>
            <a:lvl1pPr algn="ctr">
              <a:defRPr lang="en-US" sz="3200" dirty="0">
                <a:solidFill>
                  <a:schemeClr val="bg1"/>
                </a:solidFill>
              </a:defRPr>
            </a:lvl1pPr>
          </a:lstStyle>
          <a:p>
            <a:pPr lvl="0"/>
            <a:endParaRPr lang="en-US" dirty="0"/>
          </a:p>
        </p:txBody>
      </p:sp>
    </p:spTree>
    <p:extLst>
      <p:ext uri="{BB962C8B-B14F-4D97-AF65-F5344CB8AC3E}">
        <p14:creationId xmlns:p14="http://schemas.microsoft.com/office/powerpoint/2010/main" val="2282201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4"/>
          <p:cNvSpPr/>
          <p:nvPr userDrawn="1"/>
        </p:nvSpPr>
        <p:spPr>
          <a:xfrm>
            <a:off x="141341" y="6382985"/>
            <a:ext cx="6096000" cy="276999"/>
          </a:xfrm>
          <a:prstGeom prst="rect">
            <a:avLst/>
          </a:prstGeom>
        </p:spPr>
        <p:txBody>
          <a:bodyPr>
            <a:spAutoFit/>
          </a:bodyPr>
          <a:lstStyle/>
          <a:p>
            <a:r>
              <a:rPr lang="en-US" sz="1200" dirty="0">
                <a:solidFill>
                  <a:schemeClr val="tx1">
                    <a:lumMod val="50000"/>
                    <a:lumOff val="50000"/>
                  </a:schemeClr>
                </a:solidFill>
                <a:latin typeface="Franklin Gothic Book" panose="020B0503020102020204" pitchFamily="34" charset="0"/>
                <a:ea typeface="Myriad Pro Regular" charset="0"/>
                <a:cs typeface="Myriad Pro Regular" charset="0"/>
              </a:rPr>
              <a:t>Confidential and Proprietary. © 2019 UST Global Inc</a:t>
            </a:r>
          </a:p>
        </p:txBody>
      </p:sp>
      <p:sp>
        <p:nvSpPr>
          <p:cNvPr id="4" name="Slide Number Placeholder 10"/>
          <p:cNvSpPr txBox="1">
            <a:spLocks/>
          </p:cNvSpPr>
          <p:nvPr userDrawn="1"/>
        </p:nvSpPr>
        <p:spPr>
          <a:xfrm>
            <a:off x="11059420" y="6373127"/>
            <a:ext cx="1000448" cy="366183"/>
          </a:xfrm>
          <a:prstGeom prst="rect">
            <a:avLst/>
          </a:prstGeom>
        </p:spPr>
        <p:txBody>
          <a:bodyPr vert="horz" lIns="121920" tIns="60960" rIns="121920" bIns="60960" rtlCol="0" anchor="ctr"/>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ctr"/>
            <a:r>
              <a:rPr lang="en-US" sz="1067" dirty="0">
                <a:solidFill>
                  <a:schemeClr val="tx1">
                    <a:lumMod val="60000"/>
                    <a:lumOff val="40000"/>
                  </a:schemeClr>
                </a:solidFill>
                <a:latin typeface="Franklin Gothic Book" panose="020B0503020102020204" pitchFamily="34" charset="0"/>
                <a:cs typeface="Trebuchet MS"/>
              </a:rPr>
              <a:t> </a:t>
            </a:r>
            <a:fld id="{110FD68B-4EE4-9D43-89F2-B87D6C9CEE3A}" type="slidenum">
              <a:rPr lang="en-US" sz="1067" smtClean="0">
                <a:solidFill>
                  <a:schemeClr val="tx1">
                    <a:lumMod val="60000"/>
                    <a:lumOff val="40000"/>
                  </a:schemeClr>
                </a:solidFill>
                <a:latin typeface="Franklin Gothic Book" panose="020B0503020102020204" pitchFamily="34" charset="0"/>
                <a:cs typeface="Trebuchet MS"/>
              </a:rPr>
              <a:pPr algn="ctr"/>
              <a:t>‹#›</a:t>
            </a:fld>
            <a:endParaRPr lang="en-US" sz="1067" dirty="0">
              <a:solidFill>
                <a:schemeClr val="tx1">
                  <a:lumMod val="60000"/>
                  <a:lumOff val="40000"/>
                </a:schemeClr>
              </a:solidFill>
              <a:latin typeface="Franklin Gothic Book" panose="020B0503020102020204" pitchFamily="34" charset="0"/>
              <a:cs typeface="Trebuchet MS"/>
            </a:endParaRPr>
          </a:p>
        </p:txBody>
      </p:sp>
    </p:spTree>
    <p:extLst>
      <p:ext uri="{BB962C8B-B14F-4D97-AF65-F5344CB8AC3E}">
        <p14:creationId xmlns:p14="http://schemas.microsoft.com/office/powerpoint/2010/main" val="575119451"/>
      </p:ext>
    </p:extLst>
  </p:cSld>
  <p:clrMap bg1="lt1" tx1="dk1" bg2="lt2" tx2="dk2" accent1="accent1" accent2="accent2" accent3="accent3" accent4="accent4" accent5="accent5" accent6="accent6" hlink="hlink" folHlink="folHlink"/>
  <p:sldLayoutIdLst>
    <p:sldLayoutId id="2147483744" r:id="rId1"/>
    <p:sldLayoutId id="2147483822" r:id="rId2"/>
    <p:sldLayoutId id="2147483933" r:id="rId3"/>
    <p:sldLayoutId id="2147483939" r:id="rId4"/>
    <p:sldLayoutId id="2147483940" r:id="rId5"/>
    <p:sldLayoutId id="2147483938" r:id="rId6"/>
    <p:sldLayoutId id="2147483941" r:id="rId7"/>
  </p:sldLayoutIdLst>
  <p:hf hdr="0" ftr="0" dt="0"/>
  <p:txStyles>
    <p:titleStyle>
      <a:lvl1pPr algn="l" defTabSz="1219139"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84" indent="-304784" algn="l" defTabSz="1219139" rtl="0" eaLnBrk="1" latinLnBrk="0" hangingPunct="1">
        <a:lnSpc>
          <a:spcPct val="90000"/>
        </a:lnSpc>
        <a:spcBef>
          <a:spcPts val="1333"/>
        </a:spcBef>
        <a:buFont typeface="Arial"/>
        <a:buChar char="•"/>
        <a:defRPr sz="3733" kern="1200">
          <a:solidFill>
            <a:schemeClr val="tx1"/>
          </a:solidFill>
          <a:latin typeface="+mn-lt"/>
          <a:ea typeface="+mn-ea"/>
          <a:cs typeface="+mn-cs"/>
        </a:defRPr>
      </a:lvl1pPr>
      <a:lvl2pPr marL="914354" indent="-304784" algn="l" defTabSz="1219139" rtl="0" eaLnBrk="1" latinLnBrk="0" hangingPunct="1">
        <a:lnSpc>
          <a:spcPct val="90000"/>
        </a:lnSpc>
        <a:spcBef>
          <a:spcPts val="667"/>
        </a:spcBef>
        <a:buFont typeface="Arial"/>
        <a:buChar char="•"/>
        <a:defRPr sz="3200" kern="1200">
          <a:solidFill>
            <a:schemeClr val="tx1"/>
          </a:solidFill>
          <a:latin typeface="+mn-lt"/>
          <a:ea typeface="+mn-ea"/>
          <a:cs typeface="+mn-cs"/>
        </a:defRPr>
      </a:lvl2pPr>
      <a:lvl3pPr marL="1523923" indent="-304784" algn="l" defTabSz="1219139" rtl="0" eaLnBrk="1" latinLnBrk="0" hangingPunct="1">
        <a:lnSpc>
          <a:spcPct val="90000"/>
        </a:lnSpc>
        <a:spcBef>
          <a:spcPts val="667"/>
        </a:spcBef>
        <a:buFont typeface="Arial"/>
        <a:buChar char="•"/>
        <a:defRPr sz="2667" kern="1200">
          <a:solidFill>
            <a:schemeClr val="tx1"/>
          </a:solidFill>
          <a:latin typeface="+mn-lt"/>
          <a:ea typeface="+mn-ea"/>
          <a:cs typeface="+mn-cs"/>
        </a:defRPr>
      </a:lvl3pPr>
      <a:lvl4pPr marL="2133493" indent="-304784" algn="l" defTabSz="1219139" rtl="0" eaLnBrk="1" latinLnBrk="0" hangingPunct="1">
        <a:lnSpc>
          <a:spcPct val="90000"/>
        </a:lnSpc>
        <a:spcBef>
          <a:spcPts val="667"/>
        </a:spcBef>
        <a:buFont typeface="Arial"/>
        <a:buChar char="•"/>
        <a:defRPr sz="2400" kern="1200">
          <a:solidFill>
            <a:schemeClr val="tx1"/>
          </a:solidFill>
          <a:latin typeface="+mn-lt"/>
          <a:ea typeface="+mn-ea"/>
          <a:cs typeface="+mn-cs"/>
        </a:defRPr>
      </a:lvl4pPr>
      <a:lvl5pPr marL="2743063" indent="-304784" algn="l" defTabSz="1219139" rtl="0" eaLnBrk="1" latinLnBrk="0" hangingPunct="1">
        <a:lnSpc>
          <a:spcPct val="90000"/>
        </a:lnSpc>
        <a:spcBef>
          <a:spcPts val="667"/>
        </a:spcBef>
        <a:buFont typeface="Arial"/>
        <a:buChar char="•"/>
        <a:defRPr sz="2400" kern="1200">
          <a:solidFill>
            <a:schemeClr val="tx1"/>
          </a:solidFill>
          <a:latin typeface="+mn-lt"/>
          <a:ea typeface="+mn-ea"/>
          <a:cs typeface="+mn-cs"/>
        </a:defRPr>
      </a:lvl5pPr>
      <a:lvl6pPr marL="3352632" indent="-304784" algn="l" defTabSz="1219139" rtl="0" eaLnBrk="1" latinLnBrk="0" hangingPunct="1">
        <a:lnSpc>
          <a:spcPct val="90000"/>
        </a:lnSpc>
        <a:spcBef>
          <a:spcPts val="667"/>
        </a:spcBef>
        <a:buFont typeface="Arial"/>
        <a:buChar char="•"/>
        <a:defRPr sz="2400" kern="1200">
          <a:solidFill>
            <a:schemeClr val="tx1"/>
          </a:solidFill>
          <a:latin typeface="+mn-lt"/>
          <a:ea typeface="+mn-ea"/>
          <a:cs typeface="+mn-cs"/>
        </a:defRPr>
      </a:lvl6pPr>
      <a:lvl7pPr marL="3962202" indent="-304784" algn="l" defTabSz="1219139" rtl="0" eaLnBrk="1" latinLnBrk="0" hangingPunct="1">
        <a:lnSpc>
          <a:spcPct val="90000"/>
        </a:lnSpc>
        <a:spcBef>
          <a:spcPts val="667"/>
        </a:spcBef>
        <a:buFont typeface="Arial"/>
        <a:buChar char="•"/>
        <a:defRPr sz="2400" kern="1200">
          <a:solidFill>
            <a:schemeClr val="tx1"/>
          </a:solidFill>
          <a:latin typeface="+mn-lt"/>
          <a:ea typeface="+mn-ea"/>
          <a:cs typeface="+mn-cs"/>
        </a:defRPr>
      </a:lvl7pPr>
      <a:lvl8pPr marL="4571771" indent="-304784" algn="l" defTabSz="1219139" rtl="0" eaLnBrk="1" latinLnBrk="0" hangingPunct="1">
        <a:lnSpc>
          <a:spcPct val="90000"/>
        </a:lnSpc>
        <a:spcBef>
          <a:spcPts val="667"/>
        </a:spcBef>
        <a:buFont typeface="Arial"/>
        <a:buChar char="•"/>
        <a:defRPr sz="2400" kern="1200">
          <a:solidFill>
            <a:schemeClr val="tx1"/>
          </a:solidFill>
          <a:latin typeface="+mn-lt"/>
          <a:ea typeface="+mn-ea"/>
          <a:cs typeface="+mn-cs"/>
        </a:defRPr>
      </a:lvl8pPr>
      <a:lvl9pPr marL="5181341" indent="-304784" algn="l" defTabSz="1219139" rtl="0" eaLnBrk="1" latinLnBrk="0" hangingPunct="1">
        <a:lnSpc>
          <a:spcPct val="90000"/>
        </a:lnSpc>
        <a:spcBef>
          <a:spcPts val="667"/>
        </a:spcBef>
        <a:buFont typeface="Arial"/>
        <a:buChar char="•"/>
        <a:defRPr sz="2400" kern="1200">
          <a:solidFill>
            <a:schemeClr val="tx1"/>
          </a:solidFill>
          <a:latin typeface="+mn-lt"/>
          <a:ea typeface="+mn-ea"/>
          <a:cs typeface="+mn-cs"/>
        </a:defRPr>
      </a:lvl9pPr>
    </p:bodyStyle>
    <p:otherStyle>
      <a:defPPr>
        <a:defRPr lang="en-US"/>
      </a:defPPr>
      <a:lvl1pPr marL="0" algn="l" defTabSz="1219139" rtl="0" eaLnBrk="1" latinLnBrk="0" hangingPunct="1">
        <a:defRPr sz="2400" kern="1200">
          <a:solidFill>
            <a:schemeClr val="tx1"/>
          </a:solidFill>
          <a:latin typeface="+mn-lt"/>
          <a:ea typeface="+mn-ea"/>
          <a:cs typeface="+mn-cs"/>
        </a:defRPr>
      </a:lvl1pPr>
      <a:lvl2pPr marL="609570" algn="l" defTabSz="1219139" rtl="0" eaLnBrk="1" latinLnBrk="0" hangingPunct="1">
        <a:defRPr sz="2400" kern="1200">
          <a:solidFill>
            <a:schemeClr val="tx1"/>
          </a:solidFill>
          <a:latin typeface="+mn-lt"/>
          <a:ea typeface="+mn-ea"/>
          <a:cs typeface="+mn-cs"/>
        </a:defRPr>
      </a:lvl2pPr>
      <a:lvl3pPr marL="1219139" algn="l" defTabSz="1219139" rtl="0" eaLnBrk="1" latinLnBrk="0" hangingPunct="1">
        <a:defRPr sz="2400" kern="1200">
          <a:solidFill>
            <a:schemeClr val="tx1"/>
          </a:solidFill>
          <a:latin typeface="+mn-lt"/>
          <a:ea typeface="+mn-ea"/>
          <a:cs typeface="+mn-cs"/>
        </a:defRPr>
      </a:lvl3pPr>
      <a:lvl4pPr marL="1828709" algn="l" defTabSz="1219139" rtl="0" eaLnBrk="1" latinLnBrk="0" hangingPunct="1">
        <a:defRPr sz="2400" kern="1200">
          <a:solidFill>
            <a:schemeClr val="tx1"/>
          </a:solidFill>
          <a:latin typeface="+mn-lt"/>
          <a:ea typeface="+mn-ea"/>
          <a:cs typeface="+mn-cs"/>
        </a:defRPr>
      </a:lvl4pPr>
      <a:lvl5pPr marL="2438278" algn="l" defTabSz="1219139" rtl="0" eaLnBrk="1" latinLnBrk="0" hangingPunct="1">
        <a:defRPr sz="2400" kern="1200">
          <a:solidFill>
            <a:schemeClr val="tx1"/>
          </a:solidFill>
          <a:latin typeface="+mn-lt"/>
          <a:ea typeface="+mn-ea"/>
          <a:cs typeface="+mn-cs"/>
        </a:defRPr>
      </a:lvl5pPr>
      <a:lvl6pPr marL="3047848" algn="l" defTabSz="1219139" rtl="0" eaLnBrk="1" latinLnBrk="0" hangingPunct="1">
        <a:defRPr sz="2400" kern="1200">
          <a:solidFill>
            <a:schemeClr val="tx1"/>
          </a:solidFill>
          <a:latin typeface="+mn-lt"/>
          <a:ea typeface="+mn-ea"/>
          <a:cs typeface="+mn-cs"/>
        </a:defRPr>
      </a:lvl6pPr>
      <a:lvl7pPr marL="3657417" algn="l" defTabSz="1219139" rtl="0" eaLnBrk="1" latinLnBrk="0" hangingPunct="1">
        <a:defRPr sz="2400" kern="1200">
          <a:solidFill>
            <a:schemeClr val="tx1"/>
          </a:solidFill>
          <a:latin typeface="+mn-lt"/>
          <a:ea typeface="+mn-ea"/>
          <a:cs typeface="+mn-cs"/>
        </a:defRPr>
      </a:lvl7pPr>
      <a:lvl8pPr marL="4266987" algn="l" defTabSz="1219139" rtl="0" eaLnBrk="1" latinLnBrk="0" hangingPunct="1">
        <a:defRPr sz="2400" kern="1200">
          <a:solidFill>
            <a:schemeClr val="tx1"/>
          </a:solidFill>
          <a:latin typeface="+mn-lt"/>
          <a:ea typeface="+mn-ea"/>
          <a:cs typeface="+mn-cs"/>
        </a:defRPr>
      </a:lvl8pPr>
      <a:lvl9pPr marL="4876557" algn="l" defTabSz="1219139"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s://www.infoworld.com/article/3228245/the-80-20-data-science-dilemma.html" TargetMode="External"/><Relationship Id="rId7" Type="http://schemas.openxmlformats.org/officeDocument/2006/relationships/hyperlink" Target="https://www.nytimes.com/2014/08/18/technology/for-big-data-scientists-hurdle-to-insights-is-janitor-work.html" TargetMode="External"/><Relationship Id="rId12" Type="http://schemas.openxmlformats.org/officeDocument/2006/relationships/image" Target="../media/image10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customXml" Target="../ink/ink2.xml"/><Relationship Id="rId5" Type="http://schemas.openxmlformats.org/officeDocument/2006/relationships/hyperlink" Target="https://www.glassdoor.com/List/Best-Jobs-in-America-LST_KQ0,20.htm" TargetMode="External"/><Relationship Id="rId10"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hyperlink" Target="https://www.forbes.com/sites/gilpress/2016/03/23/data-preparation-most-time-consuming-least-enjoyable-data-science-task-survey-says/#6544fbe46f63" TargetMode="External"/></Relationships>
</file>

<file path=ppt/slides/_rels/slide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04CCF0-99AA-4BA6-A835-E6805A6FD145}"/>
              </a:ext>
            </a:extLst>
          </p:cNvPr>
          <p:cNvSpPr/>
          <p:nvPr/>
        </p:nvSpPr>
        <p:spPr>
          <a:xfrm flipV="1">
            <a:off x="8365845" y="4343797"/>
            <a:ext cx="1556312" cy="61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3200"/>
          </a:p>
        </p:txBody>
      </p:sp>
      <p:sp>
        <p:nvSpPr>
          <p:cNvPr id="5" name="TextBox 4">
            <a:extLst>
              <a:ext uri="{FF2B5EF4-FFF2-40B4-BE49-F238E27FC236}">
                <a16:creationId xmlns:a16="http://schemas.microsoft.com/office/drawing/2014/main" id="{54517FD3-EDF8-4D89-86F8-93126453FA63}"/>
              </a:ext>
            </a:extLst>
          </p:cNvPr>
          <p:cNvSpPr txBox="1"/>
          <p:nvPr/>
        </p:nvSpPr>
        <p:spPr>
          <a:xfrm>
            <a:off x="6362701" y="3551108"/>
            <a:ext cx="5562600" cy="687432"/>
          </a:xfrm>
          <a:prstGeom prst="rect">
            <a:avLst/>
          </a:prstGeom>
          <a:noFill/>
        </p:spPr>
        <p:txBody>
          <a:bodyPr wrap="square" lIns="0" rtlCol="0">
            <a:spAutoFit/>
          </a:bodyPr>
          <a:lstStyle/>
          <a:p>
            <a:pPr algn="ctr"/>
            <a:r>
              <a:rPr lang="en-US" sz="3867" dirty="0">
                <a:solidFill>
                  <a:schemeClr val="bg1"/>
                </a:solidFill>
                <a:latin typeface="Franklin Gothic Demi Cond" panose="020B0706030402020204" pitchFamily="34" charset="0"/>
              </a:rPr>
              <a:t>U-DATA</a:t>
            </a:r>
          </a:p>
        </p:txBody>
      </p:sp>
      <p:sp>
        <p:nvSpPr>
          <p:cNvPr id="8" name="TextBox 7">
            <a:extLst>
              <a:ext uri="{FF2B5EF4-FFF2-40B4-BE49-F238E27FC236}">
                <a16:creationId xmlns:a16="http://schemas.microsoft.com/office/drawing/2014/main" id="{889CA854-BC1A-455A-A1AD-90374CC0DC9E}"/>
              </a:ext>
            </a:extLst>
          </p:cNvPr>
          <p:cNvSpPr txBox="1"/>
          <p:nvPr/>
        </p:nvSpPr>
        <p:spPr>
          <a:xfrm>
            <a:off x="6362701" y="4615607"/>
            <a:ext cx="5562600" cy="954107"/>
          </a:xfrm>
          <a:prstGeom prst="rect">
            <a:avLst/>
          </a:prstGeom>
          <a:noFill/>
        </p:spPr>
        <p:txBody>
          <a:bodyPr wrap="square" lIns="0" rtlCol="0">
            <a:spAutoFit/>
          </a:bodyPr>
          <a:lstStyle/>
          <a:p>
            <a:pPr algn="ctr"/>
            <a:r>
              <a:rPr lang="en-US" sz="2800" dirty="0">
                <a:solidFill>
                  <a:schemeClr val="bg1"/>
                </a:solidFill>
                <a:latin typeface="Franklin Gothic Demi Cond" panose="020B0706030402020204" pitchFamily="34" charset="0"/>
              </a:rPr>
              <a:t>Solving 80/20 data science dilemma</a:t>
            </a:r>
          </a:p>
          <a:p>
            <a:pPr algn="ctr"/>
            <a:endParaRPr lang="en-US" sz="2800" dirty="0">
              <a:solidFill>
                <a:schemeClr val="bg1"/>
              </a:solidFill>
              <a:latin typeface="Franklin Gothic Demi Cond" panose="020B0706030402020204" pitchFamily="34" charset="0"/>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12AE5C66-4F47-4B8E-99B4-D35A264DD20E}"/>
                  </a:ext>
                </a:extLst>
              </p14:cNvPr>
              <p14:cNvContentPartPr/>
              <p14:nvPr/>
            </p14:nvContentPartPr>
            <p14:xfrm>
              <a:off x="12076904" y="2840760"/>
              <a:ext cx="13680" cy="62280"/>
            </p14:xfrm>
          </p:contentPart>
        </mc:Choice>
        <mc:Fallback>
          <p:pic>
            <p:nvPicPr>
              <p:cNvPr id="2" name="Ink 1">
                <a:extLst>
                  <a:ext uri="{FF2B5EF4-FFF2-40B4-BE49-F238E27FC236}">
                    <a16:creationId xmlns:a16="http://schemas.microsoft.com/office/drawing/2014/main" id="{12AE5C66-4F47-4B8E-99B4-D35A264DD20E}"/>
                  </a:ext>
                </a:extLst>
              </p:cNvPr>
              <p:cNvPicPr/>
              <p:nvPr/>
            </p:nvPicPr>
            <p:blipFill>
              <a:blip r:embed="rId4"/>
              <a:stretch>
                <a:fillRect/>
              </a:stretch>
            </p:blipFill>
            <p:spPr>
              <a:xfrm>
                <a:off x="12068264" y="2832120"/>
                <a:ext cx="31320" cy="79920"/>
              </a:xfrm>
              <a:prstGeom prst="rect">
                <a:avLst/>
              </a:prstGeom>
            </p:spPr>
          </p:pic>
        </mc:Fallback>
      </mc:AlternateContent>
    </p:spTree>
    <p:extLst>
      <p:ext uri="{BB962C8B-B14F-4D97-AF65-F5344CB8AC3E}">
        <p14:creationId xmlns:p14="http://schemas.microsoft.com/office/powerpoint/2010/main" val="83913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98AAB26-0D29-4CE3-9E1F-EB546651B2A9}"/>
              </a:ext>
            </a:extLst>
          </p:cNvPr>
          <p:cNvSpPr>
            <a:spLocks noGrp="1"/>
          </p:cNvSpPr>
          <p:nvPr>
            <p:ph type="title"/>
          </p:nvPr>
        </p:nvSpPr>
        <p:spPr/>
        <p:txBody>
          <a:bodyPr/>
          <a:lstStyle/>
          <a:p>
            <a:r>
              <a:rPr lang="en-US" dirty="0"/>
              <a:t>The Problem</a:t>
            </a:r>
            <a:endParaRPr lang="en-IN" dirty="0"/>
          </a:p>
        </p:txBody>
      </p:sp>
      <p:grpSp>
        <p:nvGrpSpPr>
          <p:cNvPr id="6" name="Group 5">
            <a:extLst>
              <a:ext uri="{FF2B5EF4-FFF2-40B4-BE49-F238E27FC236}">
                <a16:creationId xmlns:a16="http://schemas.microsoft.com/office/drawing/2014/main" id="{EE16BB5B-0F14-4BDC-B605-E09B9C53C00B}"/>
              </a:ext>
            </a:extLst>
          </p:cNvPr>
          <p:cNvGrpSpPr/>
          <p:nvPr/>
        </p:nvGrpSpPr>
        <p:grpSpPr>
          <a:xfrm>
            <a:off x="707010" y="939039"/>
            <a:ext cx="10179459" cy="1167657"/>
            <a:chOff x="707010" y="939039"/>
            <a:chExt cx="10179459" cy="1167657"/>
          </a:xfrm>
        </p:grpSpPr>
        <p:sp>
          <p:nvSpPr>
            <p:cNvPr id="3" name="Rectangle: Rounded Corners 2">
              <a:extLst>
                <a:ext uri="{FF2B5EF4-FFF2-40B4-BE49-F238E27FC236}">
                  <a16:creationId xmlns:a16="http://schemas.microsoft.com/office/drawing/2014/main" id="{FBABB768-A86D-4D37-A8B0-1D204A6E3575}"/>
                </a:ext>
              </a:extLst>
            </p:cNvPr>
            <p:cNvSpPr/>
            <p:nvPr/>
          </p:nvSpPr>
          <p:spPr>
            <a:xfrm>
              <a:off x="707010" y="939039"/>
              <a:ext cx="2023126" cy="1150070"/>
            </a:xfrm>
            <a:prstGeom prst="roundRect">
              <a:avLst>
                <a:gd name="adj" fmla="val 11366"/>
              </a:avLst>
            </a:prstGeom>
            <a:solidFill>
              <a:srgbClr val="7E072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3">
              <a:extLst>
                <a:ext uri="{FF2B5EF4-FFF2-40B4-BE49-F238E27FC236}">
                  <a16:creationId xmlns:a16="http://schemas.microsoft.com/office/drawing/2014/main" id="{AECC48FB-337D-4289-8146-0DF9064C7F4B}"/>
                </a:ext>
              </a:extLst>
            </p:cNvPr>
            <p:cNvSpPr/>
            <p:nvPr/>
          </p:nvSpPr>
          <p:spPr>
            <a:xfrm>
              <a:off x="3022629" y="939039"/>
              <a:ext cx="7863840" cy="1150070"/>
            </a:xfrm>
            <a:prstGeom prst="roundRect">
              <a:avLst>
                <a:gd name="adj" fmla="val 15784"/>
              </a:avLst>
            </a:prstGeom>
            <a:solidFill>
              <a:schemeClr val="bg1">
                <a:lumMod val="8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TextBox 87">
              <a:extLst>
                <a:ext uri="{FF2B5EF4-FFF2-40B4-BE49-F238E27FC236}">
                  <a16:creationId xmlns:a16="http://schemas.microsoft.com/office/drawing/2014/main" id="{CAEAFC15-C7E6-473C-A2E1-7D1C0C2D7853}"/>
                </a:ext>
              </a:extLst>
            </p:cNvPr>
            <p:cNvSpPr txBox="1"/>
            <p:nvPr/>
          </p:nvSpPr>
          <p:spPr>
            <a:xfrm>
              <a:off x="3133176" y="1029478"/>
              <a:ext cx="7753293" cy="1077218"/>
            </a:xfrm>
            <a:prstGeom prst="rect">
              <a:avLst/>
            </a:prstGeom>
            <a:noFill/>
          </p:spPr>
          <p:txBody>
            <a:bodyPr wrap="square" rtlCol="0">
              <a:spAutoFit/>
            </a:bodyPr>
            <a:lstStyle/>
            <a:p>
              <a:r>
                <a:rPr lang="en-US" sz="1800" dirty="0">
                  <a:ea typeface="Roboto Light" panose="02000000000000000000" pitchFamily="2" charset="0"/>
                  <a:cs typeface="Roboto Light" panose="02000000000000000000" pitchFamily="2" charset="0"/>
                </a:rPr>
                <a:t>Most data scientists spend only 20 percent of their time on actual data analysis and 80 percent of their time finding, cleaning, and reorganizing huge amounts of data, which is an inefficient data strategy…</a:t>
              </a:r>
            </a:p>
            <a:p>
              <a:r>
                <a:rPr lang="en-US" sz="1000" dirty="0">
                  <a:hlinkClick r:id="rId3"/>
                </a:rPr>
                <a:t>https://www.infoworld.com/article/3228245/the-80-20-data-science-dilemma.html</a:t>
              </a:r>
              <a:endParaRPr lang="en-IN" sz="1000" dirty="0">
                <a:ea typeface="Roboto Light" panose="02000000000000000000" pitchFamily="2" charset="0"/>
                <a:cs typeface="Roboto Light" panose="02000000000000000000" pitchFamily="2" charset="0"/>
              </a:endParaRPr>
            </a:p>
          </p:txBody>
        </p:sp>
        <p:pic>
          <p:nvPicPr>
            <p:cNvPr id="1026" name="Picture 2" descr="Image result for infoworld logo&quot;">
              <a:extLst>
                <a:ext uri="{FF2B5EF4-FFF2-40B4-BE49-F238E27FC236}">
                  <a16:creationId xmlns:a16="http://schemas.microsoft.com/office/drawing/2014/main" id="{19C9D109-DF43-47D7-8B61-F34F90F700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941" y="1352808"/>
              <a:ext cx="1843315" cy="36987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Group 6">
            <a:extLst>
              <a:ext uri="{FF2B5EF4-FFF2-40B4-BE49-F238E27FC236}">
                <a16:creationId xmlns:a16="http://schemas.microsoft.com/office/drawing/2014/main" id="{2341C0D9-5610-4CC4-BFC3-B25C368744F2}"/>
              </a:ext>
            </a:extLst>
          </p:cNvPr>
          <p:cNvGrpSpPr/>
          <p:nvPr/>
        </p:nvGrpSpPr>
        <p:grpSpPr>
          <a:xfrm>
            <a:off x="707010" y="2299958"/>
            <a:ext cx="10179459" cy="1150070"/>
            <a:chOff x="707010" y="2299958"/>
            <a:chExt cx="10179459" cy="1150070"/>
          </a:xfrm>
        </p:grpSpPr>
        <p:sp>
          <p:nvSpPr>
            <p:cNvPr id="28" name="Rectangle: Rounded Corners 27">
              <a:extLst>
                <a:ext uri="{FF2B5EF4-FFF2-40B4-BE49-F238E27FC236}">
                  <a16:creationId xmlns:a16="http://schemas.microsoft.com/office/drawing/2014/main" id="{2668CB7D-3A7A-44A7-9AD9-CFE00EB4AF82}"/>
                </a:ext>
              </a:extLst>
            </p:cNvPr>
            <p:cNvSpPr/>
            <p:nvPr/>
          </p:nvSpPr>
          <p:spPr>
            <a:xfrm>
              <a:off x="707010" y="2299958"/>
              <a:ext cx="2023126" cy="1150070"/>
            </a:xfrm>
            <a:prstGeom prst="roundRect">
              <a:avLst/>
            </a:prstGeom>
            <a:solidFill>
              <a:srgbClr val="01B55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Rounded Corners 31">
              <a:extLst>
                <a:ext uri="{FF2B5EF4-FFF2-40B4-BE49-F238E27FC236}">
                  <a16:creationId xmlns:a16="http://schemas.microsoft.com/office/drawing/2014/main" id="{102D27FB-6A0F-405E-908B-CC1CA42E4D28}"/>
                </a:ext>
              </a:extLst>
            </p:cNvPr>
            <p:cNvSpPr/>
            <p:nvPr/>
          </p:nvSpPr>
          <p:spPr>
            <a:xfrm>
              <a:off x="3022629" y="2299958"/>
              <a:ext cx="7863840" cy="1150070"/>
            </a:xfrm>
            <a:prstGeom prst="roundRect">
              <a:avLst>
                <a:gd name="adj" fmla="val 15784"/>
              </a:avLst>
            </a:prstGeom>
            <a:solidFill>
              <a:schemeClr val="bg1">
                <a:lumMod val="8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hlinkClick r:id="rId5"/>
                </a:rPr>
                <a:t>https://www.glassdoor.com/List/Best-Jobs-in-America-LST_KQ0,20.htm</a:t>
              </a:r>
              <a:endParaRPr lang="en-US" sz="1000" dirty="0"/>
            </a:p>
          </p:txBody>
        </p:sp>
        <p:sp>
          <p:nvSpPr>
            <p:cNvPr id="33" name="TextBox 32">
              <a:extLst>
                <a:ext uri="{FF2B5EF4-FFF2-40B4-BE49-F238E27FC236}">
                  <a16:creationId xmlns:a16="http://schemas.microsoft.com/office/drawing/2014/main" id="{BFF8CCB1-243C-49E1-AA33-4B62DE1BC580}"/>
                </a:ext>
              </a:extLst>
            </p:cNvPr>
            <p:cNvSpPr txBox="1"/>
            <p:nvPr/>
          </p:nvSpPr>
          <p:spPr>
            <a:xfrm>
              <a:off x="3133176" y="2390397"/>
              <a:ext cx="7753293" cy="369332"/>
            </a:xfrm>
            <a:prstGeom prst="rect">
              <a:avLst/>
            </a:prstGeom>
            <a:noFill/>
          </p:spPr>
          <p:txBody>
            <a:bodyPr wrap="square" rtlCol="0">
              <a:spAutoFit/>
            </a:bodyPr>
            <a:lstStyle/>
            <a:p>
              <a:r>
                <a:rPr lang="en-US" sz="1800" dirty="0">
                  <a:ea typeface="Roboto Light" panose="02000000000000000000" pitchFamily="2" charset="0"/>
                  <a:cs typeface="Roboto Light" panose="02000000000000000000" pitchFamily="2" charset="0"/>
                </a:rPr>
                <a:t>Data Scientist is the best job in America for the 4th year in a row in US…</a:t>
              </a:r>
            </a:p>
          </p:txBody>
        </p:sp>
        <p:pic>
          <p:nvPicPr>
            <p:cNvPr id="1028" name="Picture 4" descr="Image result for glassdoor transparent logo&quot;">
              <a:extLst>
                <a:ext uri="{FF2B5EF4-FFF2-40B4-BE49-F238E27FC236}">
                  <a16:creationId xmlns:a16="http://schemas.microsoft.com/office/drawing/2014/main" id="{B876E039-92E5-4E84-9800-957750BBA01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2626" t="10075" r="23248" b="11733"/>
            <a:stretch/>
          </p:blipFill>
          <p:spPr bwMode="auto">
            <a:xfrm>
              <a:off x="1021617" y="2409208"/>
              <a:ext cx="1290320" cy="97837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Group 7">
            <a:extLst>
              <a:ext uri="{FF2B5EF4-FFF2-40B4-BE49-F238E27FC236}">
                <a16:creationId xmlns:a16="http://schemas.microsoft.com/office/drawing/2014/main" id="{53DCE879-A945-49C3-9A49-1ED013AA4FCE}"/>
              </a:ext>
            </a:extLst>
          </p:cNvPr>
          <p:cNvGrpSpPr/>
          <p:nvPr/>
        </p:nvGrpSpPr>
        <p:grpSpPr>
          <a:xfrm>
            <a:off x="678728" y="3660877"/>
            <a:ext cx="10207741" cy="1167657"/>
            <a:chOff x="678728" y="3660877"/>
            <a:chExt cx="10207741" cy="1167657"/>
          </a:xfrm>
        </p:grpSpPr>
        <p:sp>
          <p:nvSpPr>
            <p:cNvPr id="29" name="Rectangle: Rounded Corners 28">
              <a:extLst>
                <a:ext uri="{FF2B5EF4-FFF2-40B4-BE49-F238E27FC236}">
                  <a16:creationId xmlns:a16="http://schemas.microsoft.com/office/drawing/2014/main" id="{8A80EFE4-0198-4875-8865-DA487C288ADE}"/>
                </a:ext>
              </a:extLst>
            </p:cNvPr>
            <p:cNvSpPr/>
            <p:nvPr/>
          </p:nvSpPr>
          <p:spPr>
            <a:xfrm>
              <a:off x="678728" y="3660877"/>
              <a:ext cx="2051407" cy="1150070"/>
            </a:xfrm>
            <a:prstGeom prst="roundRect">
              <a:avLst/>
            </a:prstGeom>
            <a:solidFill>
              <a:srgbClr val="FFFF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Rounded Corners 33">
              <a:extLst>
                <a:ext uri="{FF2B5EF4-FFF2-40B4-BE49-F238E27FC236}">
                  <a16:creationId xmlns:a16="http://schemas.microsoft.com/office/drawing/2014/main" id="{40D633CD-92DF-497E-8E19-074416320F0E}"/>
                </a:ext>
              </a:extLst>
            </p:cNvPr>
            <p:cNvSpPr/>
            <p:nvPr/>
          </p:nvSpPr>
          <p:spPr>
            <a:xfrm>
              <a:off x="3022629" y="3660877"/>
              <a:ext cx="7863840" cy="1150070"/>
            </a:xfrm>
            <a:prstGeom prst="roundRect">
              <a:avLst>
                <a:gd name="adj" fmla="val 15784"/>
              </a:avLst>
            </a:prstGeom>
            <a:solidFill>
              <a:schemeClr val="bg1">
                <a:lumMod val="8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88EBF521-85D0-4007-A8D1-7D55B0CD760F}"/>
                </a:ext>
              </a:extLst>
            </p:cNvPr>
            <p:cNvSpPr txBox="1"/>
            <p:nvPr/>
          </p:nvSpPr>
          <p:spPr>
            <a:xfrm>
              <a:off x="3133176" y="3751316"/>
              <a:ext cx="7753293" cy="1077218"/>
            </a:xfrm>
            <a:prstGeom prst="rect">
              <a:avLst/>
            </a:prstGeom>
            <a:noFill/>
          </p:spPr>
          <p:txBody>
            <a:bodyPr wrap="square" rtlCol="0">
              <a:spAutoFit/>
            </a:bodyPr>
            <a:lstStyle/>
            <a:p>
              <a:r>
                <a:rPr lang="en-US" sz="1800" dirty="0">
                  <a:ea typeface="Roboto Light" panose="02000000000000000000" pitchFamily="2" charset="0"/>
                  <a:cs typeface="Roboto Light" panose="02000000000000000000" pitchFamily="2" charset="0"/>
                </a:rPr>
                <a:t>Data scientists, spend from 50 percent to 80 percent of their time mired in this more mundane labor of collecting and preparing unruly digital data, before it can be explored for useful nuggets…</a:t>
              </a:r>
            </a:p>
            <a:p>
              <a:r>
                <a:rPr lang="en-US" sz="1000" dirty="0">
                  <a:hlinkClick r:id="rId7"/>
                </a:rPr>
                <a:t>https://www.nytimes.com/2014/08/18/technology/for-big-data-scientists-hurdle-to-insights-is-janitor-work.html</a:t>
              </a:r>
              <a:endParaRPr lang="en-US" sz="1000" dirty="0">
                <a:ea typeface="Roboto Light" panose="02000000000000000000" pitchFamily="2" charset="0"/>
                <a:cs typeface="Roboto Light" panose="02000000000000000000" pitchFamily="2" charset="0"/>
              </a:endParaRPr>
            </a:p>
          </p:txBody>
        </p:sp>
        <p:pic>
          <p:nvPicPr>
            <p:cNvPr id="1030" name="Picture 6" descr="Image result for the new york times transparent logo&quot;">
              <a:extLst>
                <a:ext uri="{FF2B5EF4-FFF2-40B4-BE49-F238E27FC236}">
                  <a16:creationId xmlns:a16="http://schemas.microsoft.com/office/drawing/2014/main" id="{1E7D85B2-23FB-47B9-85C2-24CFE882881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5218" y="4069199"/>
              <a:ext cx="1953260" cy="41136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a:extLst>
              <a:ext uri="{FF2B5EF4-FFF2-40B4-BE49-F238E27FC236}">
                <a16:creationId xmlns:a16="http://schemas.microsoft.com/office/drawing/2014/main" id="{91DF9BA1-5B34-4752-BC4B-EFFFC4258665}"/>
              </a:ext>
            </a:extLst>
          </p:cNvPr>
          <p:cNvGrpSpPr/>
          <p:nvPr/>
        </p:nvGrpSpPr>
        <p:grpSpPr>
          <a:xfrm>
            <a:off x="678729" y="5021796"/>
            <a:ext cx="10207740" cy="1154389"/>
            <a:chOff x="678729" y="5021796"/>
            <a:chExt cx="10207740" cy="1154389"/>
          </a:xfrm>
        </p:grpSpPr>
        <p:sp>
          <p:nvSpPr>
            <p:cNvPr id="30" name="Rectangle: Rounded Corners 29">
              <a:extLst>
                <a:ext uri="{FF2B5EF4-FFF2-40B4-BE49-F238E27FC236}">
                  <a16:creationId xmlns:a16="http://schemas.microsoft.com/office/drawing/2014/main" id="{B76ECB88-FE03-4102-9C62-03EB1E2DB062}"/>
                </a:ext>
              </a:extLst>
            </p:cNvPr>
            <p:cNvSpPr/>
            <p:nvPr/>
          </p:nvSpPr>
          <p:spPr>
            <a:xfrm>
              <a:off x="678729" y="5021796"/>
              <a:ext cx="2051406" cy="1150070"/>
            </a:xfrm>
            <a:prstGeom prst="roundRect">
              <a:avLst/>
            </a:prstGeom>
            <a:solidFill>
              <a:schemeClr val="bg2">
                <a:lumMod val="90000"/>
              </a:schemeClr>
            </a:solidFill>
            <a:ln w="28575">
              <a:solidFill>
                <a:srgbClr val="D0CEC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6" name="Rectangle: Rounded Corners 35">
              <a:extLst>
                <a:ext uri="{FF2B5EF4-FFF2-40B4-BE49-F238E27FC236}">
                  <a16:creationId xmlns:a16="http://schemas.microsoft.com/office/drawing/2014/main" id="{55331254-81AF-44A8-AAC1-004E9C292683}"/>
                </a:ext>
              </a:extLst>
            </p:cNvPr>
            <p:cNvSpPr/>
            <p:nvPr/>
          </p:nvSpPr>
          <p:spPr>
            <a:xfrm>
              <a:off x="3022629" y="5026115"/>
              <a:ext cx="7863840" cy="1150070"/>
            </a:xfrm>
            <a:prstGeom prst="roundRect">
              <a:avLst>
                <a:gd name="adj" fmla="val 15784"/>
              </a:avLst>
            </a:prstGeom>
            <a:solidFill>
              <a:schemeClr val="bg1">
                <a:lumMod val="8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06A095E4-734C-4FB1-BF19-E8C891B8FA08}"/>
                </a:ext>
              </a:extLst>
            </p:cNvPr>
            <p:cNvSpPr txBox="1"/>
            <p:nvPr/>
          </p:nvSpPr>
          <p:spPr>
            <a:xfrm>
              <a:off x="3133176" y="5116554"/>
              <a:ext cx="7753293" cy="769441"/>
            </a:xfrm>
            <a:prstGeom prst="rect">
              <a:avLst/>
            </a:prstGeom>
            <a:noFill/>
          </p:spPr>
          <p:txBody>
            <a:bodyPr wrap="square" rtlCol="0">
              <a:spAutoFit/>
            </a:bodyPr>
            <a:lstStyle/>
            <a:p>
              <a:r>
                <a:rPr lang="en-US" sz="1800" dirty="0">
                  <a:ea typeface="Roboto Light" panose="02000000000000000000" pitchFamily="2" charset="0"/>
                  <a:cs typeface="Roboto Light" panose="02000000000000000000" pitchFamily="2" charset="0"/>
                </a:rPr>
                <a:t>Cleaning Big Data: Most Time-Consuming, Least Enjoyable Data Science Task,..</a:t>
              </a:r>
            </a:p>
            <a:p>
              <a:r>
                <a:rPr lang="en-US" sz="800" dirty="0">
                  <a:hlinkClick r:id="rId9"/>
                </a:rPr>
                <a:t>https://www.forbes.com/sites/gilpress/2016/03/23/data-preparation-most-time-consuming-least-enjoyable-data-science-task-survey-says/#6544fbe46f63</a:t>
              </a:r>
              <a:endParaRPr lang="en-US" sz="800" dirty="0">
                <a:ea typeface="Roboto Light" panose="02000000000000000000" pitchFamily="2" charset="0"/>
                <a:cs typeface="Roboto Light" panose="02000000000000000000" pitchFamily="2" charset="0"/>
              </a:endParaRPr>
            </a:p>
          </p:txBody>
        </p:sp>
        <p:pic>
          <p:nvPicPr>
            <p:cNvPr id="1032" name="Picture 8" descr="Image result for forbes transparent logo&quot;">
              <a:extLst>
                <a:ext uri="{FF2B5EF4-FFF2-40B4-BE49-F238E27FC236}">
                  <a16:creationId xmlns:a16="http://schemas.microsoft.com/office/drawing/2014/main" id="{21B4CBDC-C8CB-45C0-96D4-410644200A9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5218" y="5372562"/>
              <a:ext cx="1843316" cy="482430"/>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p14="http://schemas.microsoft.com/office/powerpoint/2010/main">
        <mc:Choice Requires="p14">
          <p:contentPart p14:bwMode="auto" r:id="rId11">
            <p14:nvContentPartPr>
              <p14:cNvPr id="2" name="Ink 1">
                <a:extLst>
                  <a:ext uri="{FF2B5EF4-FFF2-40B4-BE49-F238E27FC236}">
                    <a16:creationId xmlns:a16="http://schemas.microsoft.com/office/drawing/2014/main" id="{D78AF1FD-B9D1-461D-8785-476BA27F5774}"/>
                  </a:ext>
                </a:extLst>
              </p14:cNvPr>
              <p14:cNvContentPartPr/>
              <p14:nvPr/>
            </p14:nvContentPartPr>
            <p14:xfrm>
              <a:off x="12110024" y="2553480"/>
              <a:ext cx="293760" cy="448560"/>
            </p14:xfrm>
          </p:contentPart>
        </mc:Choice>
        <mc:Fallback xmlns="">
          <p:pic>
            <p:nvPicPr>
              <p:cNvPr id="2" name="Ink 1">
                <a:extLst>
                  <a:ext uri="{FF2B5EF4-FFF2-40B4-BE49-F238E27FC236}">
                    <a16:creationId xmlns:a16="http://schemas.microsoft.com/office/drawing/2014/main" id="{D78AF1FD-B9D1-461D-8785-476BA27F5774}"/>
                  </a:ext>
                </a:extLst>
              </p:cNvPr>
              <p:cNvPicPr/>
              <p:nvPr/>
            </p:nvPicPr>
            <p:blipFill>
              <a:blip r:embed="rId12"/>
              <a:stretch>
                <a:fillRect/>
              </a:stretch>
            </p:blipFill>
            <p:spPr>
              <a:xfrm>
                <a:off x="12101384" y="2544480"/>
                <a:ext cx="311400" cy="466200"/>
              </a:xfrm>
              <a:prstGeom prst="rect">
                <a:avLst/>
              </a:prstGeom>
            </p:spPr>
          </p:pic>
        </mc:Fallback>
      </mc:AlternateContent>
    </p:spTree>
    <p:extLst>
      <p:ext uri="{BB962C8B-B14F-4D97-AF65-F5344CB8AC3E}">
        <p14:creationId xmlns:p14="http://schemas.microsoft.com/office/powerpoint/2010/main" val="4011673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3AC01CB-3B52-4D4E-8BAC-B19C72822854}"/>
              </a:ext>
            </a:extLst>
          </p:cNvPr>
          <p:cNvSpPr/>
          <p:nvPr/>
        </p:nvSpPr>
        <p:spPr>
          <a:xfrm>
            <a:off x="580445" y="2209341"/>
            <a:ext cx="5890025" cy="3678841"/>
          </a:xfrm>
          <a:prstGeom prst="roundRect">
            <a:avLst>
              <a:gd name="adj" fmla="val 4616"/>
            </a:avLst>
          </a:prstGeom>
          <a:solidFill>
            <a:srgbClr val="E6E6E6"/>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7010E934-5EA9-42AA-8E35-AE048AF8A0F0}"/>
              </a:ext>
            </a:extLst>
          </p:cNvPr>
          <p:cNvSpPr txBox="1"/>
          <p:nvPr/>
        </p:nvSpPr>
        <p:spPr>
          <a:xfrm>
            <a:off x="580446" y="2209341"/>
            <a:ext cx="5890024" cy="3754874"/>
          </a:xfrm>
          <a:prstGeom prst="rect">
            <a:avLst/>
          </a:prstGeom>
          <a:noFill/>
        </p:spPr>
        <p:txBody>
          <a:bodyPr wrap="square" rtlCol="0">
            <a:spAutoFit/>
          </a:bodyPr>
          <a:lstStyle/>
          <a:p>
            <a:r>
              <a:rPr lang="en-US" sz="1400" b="1" dirty="0"/>
              <a:t>Lets understand it better with the below use case:</a:t>
            </a:r>
          </a:p>
          <a:p>
            <a:endParaRPr lang="en-US" sz="1400" dirty="0"/>
          </a:p>
          <a:p>
            <a:r>
              <a:rPr lang="en-US" sz="1400" b="1" dirty="0"/>
              <a:t>Problem Statement: </a:t>
            </a:r>
            <a:r>
              <a:rPr lang="en-US" sz="1400" dirty="0"/>
              <a:t>Ford wants to know when a particular machine is going to fail.</a:t>
            </a:r>
          </a:p>
          <a:p>
            <a:pPr marL="285750" indent="-285750">
              <a:buFont typeface="Arial" panose="020B0604020202020204" pitchFamily="34" charset="0"/>
              <a:buChar char="•"/>
            </a:pPr>
            <a:r>
              <a:rPr lang="en-US" sz="1400" dirty="0"/>
              <a:t>It has all the necessary instrumentation(Temp/Voltage/X/Y/Z) in place which is continuously monitoring the health and also writing the health information.</a:t>
            </a:r>
          </a:p>
          <a:p>
            <a:pPr marL="285750" indent="-285750">
              <a:buFont typeface="Arial" panose="020B0604020202020204" pitchFamily="34" charset="0"/>
              <a:buChar char="•"/>
            </a:pPr>
            <a:r>
              <a:rPr lang="en-US" sz="1400" dirty="0"/>
              <a:t>All of the sensors will be writing in there own format with different column headers representing different data</a:t>
            </a:r>
          </a:p>
          <a:p>
            <a:pPr marL="285750" indent="-285750">
              <a:buFont typeface="Arial" panose="020B0604020202020204" pitchFamily="34" charset="0"/>
              <a:buChar char="•"/>
            </a:pPr>
            <a:r>
              <a:rPr lang="en-US" sz="1400" dirty="0"/>
              <a:t>Usually there are several formatting inconsistencies, floating issues and inconsistent time series data.</a:t>
            </a:r>
          </a:p>
          <a:p>
            <a:pPr marL="285750" indent="-285750">
              <a:buFont typeface="Arial" panose="020B0604020202020204" pitchFamily="34" charset="0"/>
              <a:buChar char="•"/>
            </a:pPr>
            <a:r>
              <a:rPr lang="en-US" sz="1400" dirty="0"/>
              <a:t>A data scientist has to </a:t>
            </a:r>
            <a:r>
              <a:rPr lang="en-US" sz="1400" dirty="0" err="1"/>
              <a:t>sychronize</a:t>
            </a:r>
            <a:r>
              <a:rPr lang="en-US" sz="1400" dirty="0"/>
              <a:t> all this data and make sure that the resulting combination makes sense for further analysis.</a:t>
            </a:r>
          </a:p>
          <a:p>
            <a:pPr marL="285750" indent="-285750">
              <a:buFont typeface="Arial" panose="020B0604020202020204" pitchFamily="34" charset="0"/>
              <a:buChar char="•"/>
            </a:pPr>
            <a:r>
              <a:rPr lang="en-US" sz="1400" dirty="0"/>
              <a:t>This synchronizing and cleaning up of the data takes up  up ~70 to 80% of his time.</a:t>
            </a:r>
          </a:p>
          <a:p>
            <a:pPr marL="285750" indent="-285750">
              <a:buFont typeface="Arial" panose="020B0604020202020204" pitchFamily="34" charset="0"/>
              <a:buChar char="•"/>
            </a:pPr>
            <a:r>
              <a:rPr lang="en-US" sz="1400" dirty="0"/>
              <a:t>We are in the </a:t>
            </a:r>
            <a:r>
              <a:rPr lang="en-US" sz="1400" dirty="0" err="1"/>
              <a:t>persuit</a:t>
            </a:r>
            <a:r>
              <a:rPr lang="en-US" sz="1400" dirty="0"/>
              <a:t> to return this quality time back to the Data Scientists.</a:t>
            </a:r>
          </a:p>
        </p:txBody>
      </p:sp>
      <p:sp>
        <p:nvSpPr>
          <p:cNvPr id="4" name="Rectangle: Rounded Corners 3">
            <a:extLst>
              <a:ext uri="{FF2B5EF4-FFF2-40B4-BE49-F238E27FC236}">
                <a16:creationId xmlns:a16="http://schemas.microsoft.com/office/drawing/2014/main" id="{650FDACA-7255-4933-8175-4CA898D6ABD0}"/>
              </a:ext>
            </a:extLst>
          </p:cNvPr>
          <p:cNvSpPr/>
          <p:nvPr/>
        </p:nvSpPr>
        <p:spPr>
          <a:xfrm>
            <a:off x="580445" y="874651"/>
            <a:ext cx="11307295" cy="1061197"/>
          </a:xfrm>
          <a:prstGeom prst="roundRect">
            <a:avLst/>
          </a:prstGeom>
          <a:solidFill>
            <a:srgbClr val="58C198"/>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898AAB26-0D29-4CE3-9E1F-EB546651B2A9}"/>
              </a:ext>
            </a:extLst>
          </p:cNvPr>
          <p:cNvSpPr>
            <a:spLocks noGrp="1"/>
          </p:cNvSpPr>
          <p:nvPr>
            <p:ph type="title"/>
          </p:nvPr>
        </p:nvSpPr>
        <p:spPr/>
        <p:txBody>
          <a:bodyPr/>
          <a:lstStyle/>
          <a:p>
            <a:r>
              <a:rPr lang="en-US" dirty="0"/>
              <a:t>UDATA: Value Proposition</a:t>
            </a:r>
            <a:endParaRPr lang="en-IN" dirty="0"/>
          </a:p>
        </p:txBody>
      </p:sp>
      <p:pic>
        <p:nvPicPr>
          <p:cNvPr id="2" name="Picture 1">
            <a:extLst>
              <a:ext uri="{FF2B5EF4-FFF2-40B4-BE49-F238E27FC236}">
                <a16:creationId xmlns:a16="http://schemas.microsoft.com/office/drawing/2014/main" id="{80EEF79B-E8F2-4E1D-B7BB-A2F60B9FFFAF}"/>
              </a:ext>
            </a:extLst>
          </p:cNvPr>
          <p:cNvPicPr>
            <a:picLocks noChangeAspect="1"/>
          </p:cNvPicPr>
          <p:nvPr/>
        </p:nvPicPr>
        <p:blipFill>
          <a:blip r:embed="rId2"/>
          <a:stretch>
            <a:fillRect/>
          </a:stretch>
        </p:blipFill>
        <p:spPr>
          <a:xfrm>
            <a:off x="6661413" y="2424393"/>
            <a:ext cx="5187785" cy="2893882"/>
          </a:xfrm>
          <a:prstGeom prst="rect">
            <a:avLst/>
          </a:prstGeom>
        </p:spPr>
      </p:pic>
      <p:sp>
        <p:nvSpPr>
          <p:cNvPr id="3" name="TextBox 2">
            <a:extLst>
              <a:ext uri="{FF2B5EF4-FFF2-40B4-BE49-F238E27FC236}">
                <a16:creationId xmlns:a16="http://schemas.microsoft.com/office/drawing/2014/main" id="{E503C64B-0478-4555-A4C7-F20197B36033}"/>
              </a:ext>
            </a:extLst>
          </p:cNvPr>
          <p:cNvSpPr txBox="1"/>
          <p:nvPr/>
        </p:nvSpPr>
        <p:spPr>
          <a:xfrm>
            <a:off x="689108" y="928135"/>
            <a:ext cx="10866123" cy="923330"/>
          </a:xfrm>
          <a:prstGeom prst="rect">
            <a:avLst/>
          </a:prstGeom>
          <a:noFill/>
        </p:spPr>
        <p:txBody>
          <a:bodyPr wrap="square" rtlCol="0">
            <a:spAutoFit/>
          </a:bodyPr>
          <a:lstStyle/>
          <a:p>
            <a:pPr marL="171450" indent="-171450">
              <a:buFont typeface="Arial" panose="020B0604020202020204" pitchFamily="34" charset="0"/>
              <a:buChar char="•"/>
            </a:pPr>
            <a:r>
              <a:rPr lang="en-US" sz="1800" b="1" dirty="0">
                <a:solidFill>
                  <a:schemeClr val="bg1"/>
                </a:solidFill>
              </a:rPr>
              <a:t>Reducing “Release to Market” time and efforts  by 70% as data Scientists can concentrate only on Feature Extraction and Model Creation </a:t>
            </a:r>
          </a:p>
          <a:p>
            <a:pPr marL="171450" indent="-171450">
              <a:buFont typeface="Arial" panose="020B0604020202020204" pitchFamily="34" charset="0"/>
              <a:buChar char="•"/>
            </a:pPr>
            <a:r>
              <a:rPr lang="en-US" sz="1800" b="1" dirty="0">
                <a:solidFill>
                  <a:schemeClr val="bg1"/>
                </a:solidFill>
              </a:rPr>
              <a:t>Faster and more efficient way for Supervised model training.</a:t>
            </a:r>
          </a:p>
        </p:txBody>
      </p:sp>
      <p:sp>
        <p:nvSpPr>
          <p:cNvPr id="8" name="Rectangle: Rounded Corners 7">
            <a:extLst>
              <a:ext uri="{FF2B5EF4-FFF2-40B4-BE49-F238E27FC236}">
                <a16:creationId xmlns:a16="http://schemas.microsoft.com/office/drawing/2014/main" id="{745FCD3E-AE4D-43F3-AF7B-6D123E5B5854}"/>
              </a:ext>
            </a:extLst>
          </p:cNvPr>
          <p:cNvSpPr/>
          <p:nvPr/>
        </p:nvSpPr>
        <p:spPr>
          <a:xfrm>
            <a:off x="6622871" y="2209341"/>
            <a:ext cx="5264870" cy="3678841"/>
          </a:xfrm>
          <a:prstGeom prst="roundRect">
            <a:avLst>
              <a:gd name="adj" fmla="val 4616"/>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75A10FE2-F3AA-414B-8373-2C40F26CA1E4}"/>
                  </a:ext>
                </a:extLst>
              </p14:cNvPr>
              <p14:cNvContentPartPr/>
              <p14:nvPr/>
            </p14:nvContentPartPr>
            <p14:xfrm>
              <a:off x="11721960" y="6632640"/>
              <a:ext cx="447120" cy="181800"/>
            </p14:xfrm>
          </p:contentPart>
        </mc:Choice>
        <mc:Fallback>
          <p:pic>
            <p:nvPicPr>
              <p:cNvPr id="7" name="Ink 6">
                <a:extLst>
                  <a:ext uri="{FF2B5EF4-FFF2-40B4-BE49-F238E27FC236}">
                    <a16:creationId xmlns:a16="http://schemas.microsoft.com/office/drawing/2014/main" id="{75A10FE2-F3AA-414B-8373-2C40F26CA1E4}"/>
                  </a:ext>
                </a:extLst>
              </p:cNvPr>
              <p:cNvPicPr/>
              <p:nvPr/>
            </p:nvPicPr>
            <p:blipFill>
              <a:blip r:embed="rId4"/>
              <a:stretch>
                <a:fillRect/>
              </a:stretch>
            </p:blipFill>
            <p:spPr>
              <a:xfrm>
                <a:off x="11712600" y="6623280"/>
                <a:ext cx="465840" cy="200520"/>
              </a:xfrm>
              <a:prstGeom prst="rect">
                <a:avLst/>
              </a:prstGeom>
            </p:spPr>
          </p:pic>
        </mc:Fallback>
      </mc:AlternateContent>
    </p:spTree>
    <p:extLst>
      <p:ext uri="{BB962C8B-B14F-4D97-AF65-F5344CB8AC3E}">
        <p14:creationId xmlns:p14="http://schemas.microsoft.com/office/powerpoint/2010/main" val="4213286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557D341B-DB8B-4120-826A-2870A8A9CE00}"/>
              </a:ext>
            </a:extLst>
          </p:cNvPr>
          <p:cNvSpPr/>
          <p:nvPr/>
        </p:nvSpPr>
        <p:spPr>
          <a:xfrm>
            <a:off x="95416" y="1260296"/>
            <a:ext cx="2866445" cy="2107096"/>
          </a:xfrm>
          <a:prstGeom prst="roundRect">
            <a:avLst>
              <a:gd name="adj" fmla="val 4616"/>
            </a:avLst>
          </a:prstGeom>
          <a:solidFill>
            <a:srgbClr val="E6E6E6"/>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CCF0BAE-CD3B-4DF4-98C8-DBE78B73A033}"/>
              </a:ext>
            </a:extLst>
          </p:cNvPr>
          <p:cNvSpPr>
            <a:spLocks noGrp="1"/>
          </p:cNvSpPr>
          <p:nvPr>
            <p:ph type="title"/>
          </p:nvPr>
        </p:nvSpPr>
        <p:spPr/>
        <p:txBody>
          <a:bodyPr/>
          <a:lstStyle/>
          <a:p>
            <a:r>
              <a:rPr lang="en-US" dirty="0"/>
              <a:t>Our Approach</a:t>
            </a:r>
          </a:p>
        </p:txBody>
      </p:sp>
      <p:pic>
        <p:nvPicPr>
          <p:cNvPr id="3" name="Picture 2">
            <a:extLst>
              <a:ext uri="{FF2B5EF4-FFF2-40B4-BE49-F238E27FC236}">
                <a16:creationId xmlns:a16="http://schemas.microsoft.com/office/drawing/2014/main" id="{FD1BA2FC-A80E-4B71-B71B-BCA994D1B2B9}"/>
              </a:ext>
            </a:extLst>
          </p:cNvPr>
          <p:cNvPicPr>
            <a:picLocks noChangeAspect="1"/>
          </p:cNvPicPr>
          <p:nvPr/>
        </p:nvPicPr>
        <p:blipFill>
          <a:blip r:embed="rId2"/>
          <a:stretch>
            <a:fillRect/>
          </a:stretch>
        </p:blipFill>
        <p:spPr>
          <a:xfrm>
            <a:off x="3458816" y="811033"/>
            <a:ext cx="6896495" cy="5311472"/>
          </a:xfrm>
          <a:prstGeom prst="rect">
            <a:avLst/>
          </a:prstGeom>
        </p:spPr>
      </p:pic>
      <p:sp>
        <p:nvSpPr>
          <p:cNvPr id="4" name="TextBox 3">
            <a:extLst>
              <a:ext uri="{FF2B5EF4-FFF2-40B4-BE49-F238E27FC236}">
                <a16:creationId xmlns:a16="http://schemas.microsoft.com/office/drawing/2014/main" id="{A93662E6-52C2-4970-9CF2-446A8ABA3407}"/>
              </a:ext>
            </a:extLst>
          </p:cNvPr>
          <p:cNvSpPr txBox="1"/>
          <p:nvPr/>
        </p:nvSpPr>
        <p:spPr>
          <a:xfrm>
            <a:off x="205976" y="1322770"/>
            <a:ext cx="2795641" cy="2031325"/>
          </a:xfrm>
          <a:prstGeom prst="rect">
            <a:avLst/>
          </a:prstGeom>
          <a:noFill/>
        </p:spPr>
        <p:txBody>
          <a:bodyPr wrap="square" rtlCol="0">
            <a:spAutoFit/>
          </a:bodyPr>
          <a:lstStyle/>
          <a:p>
            <a:r>
              <a:rPr lang="en-US" sz="1400" b="1" dirty="0"/>
              <a:t>Components which are Market Ready:</a:t>
            </a:r>
          </a:p>
          <a:p>
            <a:endParaRPr lang="en-US" sz="1400" dirty="0"/>
          </a:p>
          <a:p>
            <a:pPr marL="285750" indent="-285750">
              <a:buFont typeface="Arial" panose="020B0604020202020204" pitchFamily="34" charset="0"/>
              <a:buChar char="•"/>
            </a:pPr>
            <a:r>
              <a:rPr lang="en-US" sz="1400" dirty="0"/>
              <a:t>Understanding numeric data.</a:t>
            </a:r>
          </a:p>
          <a:p>
            <a:pPr marL="285750" indent="-285750">
              <a:buFont typeface="Arial" panose="020B0604020202020204" pitchFamily="34" charset="0"/>
              <a:buChar char="•"/>
            </a:pPr>
            <a:r>
              <a:rPr lang="en-US" sz="1400" dirty="0"/>
              <a:t>Cleanse: Numeric data</a:t>
            </a:r>
          </a:p>
          <a:p>
            <a:pPr marL="285750" indent="-285750">
              <a:buFont typeface="Arial" panose="020B0604020202020204" pitchFamily="34" charset="0"/>
              <a:buChar char="•"/>
            </a:pPr>
            <a:r>
              <a:rPr lang="en-US" sz="1400" dirty="0"/>
              <a:t>Create a goodness of data report for numeric data.</a:t>
            </a:r>
          </a:p>
          <a:p>
            <a:pPr marL="285750" indent="-285750">
              <a:buFont typeface="Arial" panose="020B0604020202020204" pitchFamily="34" charset="0"/>
              <a:buChar char="•"/>
            </a:pPr>
            <a:r>
              <a:rPr lang="en-US" sz="1400" dirty="0"/>
              <a:t>Anomaly detection using basic </a:t>
            </a:r>
            <a:r>
              <a:rPr lang="en-US" sz="1400" dirty="0" err="1"/>
              <a:t>automl</a:t>
            </a:r>
            <a:r>
              <a:rPr lang="en-US" sz="1400" dirty="0"/>
              <a:t>.</a:t>
            </a:r>
          </a:p>
        </p:txBody>
      </p:sp>
    </p:spTree>
    <p:extLst>
      <p:ext uri="{BB962C8B-B14F-4D97-AF65-F5344CB8AC3E}">
        <p14:creationId xmlns:p14="http://schemas.microsoft.com/office/powerpoint/2010/main" val="731379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42463F8-79A9-48C0-8EC9-D431C5284311}"/>
              </a:ext>
            </a:extLst>
          </p:cNvPr>
          <p:cNvSpPr/>
          <p:nvPr/>
        </p:nvSpPr>
        <p:spPr>
          <a:xfrm>
            <a:off x="748145" y="1157798"/>
            <a:ext cx="11071469" cy="2320898"/>
          </a:xfrm>
          <a:prstGeom prst="roundRect">
            <a:avLst>
              <a:gd name="adj" fmla="val 10752"/>
            </a:avLst>
          </a:prstGeom>
          <a:solidFill>
            <a:srgbClr val="58C198"/>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Title 4">
            <a:extLst>
              <a:ext uri="{FF2B5EF4-FFF2-40B4-BE49-F238E27FC236}">
                <a16:creationId xmlns:a16="http://schemas.microsoft.com/office/drawing/2014/main" id="{898AAB26-0D29-4CE3-9E1F-EB546651B2A9}"/>
              </a:ext>
            </a:extLst>
          </p:cNvPr>
          <p:cNvSpPr>
            <a:spLocks noGrp="1"/>
          </p:cNvSpPr>
          <p:nvPr>
            <p:ph type="title"/>
          </p:nvPr>
        </p:nvSpPr>
        <p:spPr/>
        <p:txBody>
          <a:bodyPr/>
          <a:lstStyle/>
          <a:p>
            <a:r>
              <a:rPr lang="en-US" dirty="0"/>
              <a:t>Our First Target Segment - Manufacturing Sector---WHY?</a:t>
            </a:r>
            <a:endParaRPr lang="en-IN" dirty="0"/>
          </a:p>
        </p:txBody>
      </p:sp>
      <p:sp>
        <p:nvSpPr>
          <p:cNvPr id="8" name="TextBox 7">
            <a:extLst>
              <a:ext uri="{FF2B5EF4-FFF2-40B4-BE49-F238E27FC236}">
                <a16:creationId xmlns:a16="http://schemas.microsoft.com/office/drawing/2014/main" id="{AF237D6C-BE9F-4B24-BB63-217E6BED163C}"/>
              </a:ext>
            </a:extLst>
          </p:cNvPr>
          <p:cNvSpPr txBox="1"/>
          <p:nvPr/>
        </p:nvSpPr>
        <p:spPr>
          <a:xfrm>
            <a:off x="896925" y="1157798"/>
            <a:ext cx="10574639" cy="2246769"/>
          </a:xfrm>
          <a:prstGeom prst="rect">
            <a:avLst/>
          </a:prstGeom>
          <a:noFill/>
        </p:spPr>
        <p:txBody>
          <a:bodyPr wrap="square" rtlCol="0">
            <a:spAutoFit/>
          </a:bodyPr>
          <a:lstStyle/>
          <a:p>
            <a:pPr marL="171450" indent="-171450">
              <a:buFont typeface="Arial" panose="020B0604020202020204" pitchFamily="34" charset="0"/>
              <a:buChar char="•"/>
            </a:pPr>
            <a:r>
              <a:rPr lang="en-US" sz="1800" b="1" dirty="0">
                <a:solidFill>
                  <a:schemeClr val="bg1"/>
                </a:solidFill>
              </a:rPr>
              <a:t>Our Solution has anomaly detection which this need of the hour for this segment.</a:t>
            </a:r>
          </a:p>
          <a:p>
            <a:pPr marL="171450" indent="-171450">
              <a:buFont typeface="Arial" panose="020B0604020202020204" pitchFamily="34" charset="0"/>
              <a:buChar char="•"/>
            </a:pPr>
            <a:r>
              <a:rPr lang="en-US" sz="1800" b="1" dirty="0">
                <a:solidFill>
                  <a:schemeClr val="bg1"/>
                </a:solidFill>
              </a:rPr>
              <a:t>Manufacturing plants generate a lot of data from sensors which we can use and in the process help them reduce cost and increase revenues</a:t>
            </a:r>
          </a:p>
          <a:p>
            <a:pPr marL="171450" indent="-171450">
              <a:buFont typeface="Arial" panose="020B0604020202020204" pitchFamily="34" charset="0"/>
              <a:buChar char="•"/>
            </a:pPr>
            <a:r>
              <a:rPr lang="en-US" sz="1800" b="1" dirty="0">
                <a:solidFill>
                  <a:schemeClr val="bg1"/>
                </a:solidFill>
              </a:rPr>
              <a:t>This will be the first step in the evolution of  a manufacturing plant to be SMART manufacturing plant</a:t>
            </a:r>
          </a:p>
          <a:p>
            <a:pPr marL="171450" indent="-171450">
              <a:buFont typeface="Arial" panose="020B0604020202020204" pitchFamily="34" charset="0"/>
              <a:buChar char="•"/>
            </a:pPr>
            <a:r>
              <a:rPr lang="en-US" sz="1800" b="1" dirty="0">
                <a:solidFill>
                  <a:schemeClr val="bg1"/>
                </a:solidFill>
              </a:rPr>
              <a:t>It is advantageous for us as well as we can collaborate with UST’s internal Manufacturing verticals and create POC/MVC and then fine tune the solution</a:t>
            </a:r>
          </a:p>
          <a:p>
            <a:pPr marL="171450" indent="-171450">
              <a:buFont typeface="Arial" panose="020B0604020202020204" pitchFamily="34" charset="0"/>
              <a:buChar char="•"/>
            </a:pPr>
            <a:r>
              <a:rPr lang="en-US" sz="1800" b="1" dirty="0">
                <a:solidFill>
                  <a:schemeClr val="bg1"/>
                </a:solidFill>
              </a:rPr>
              <a:t>We want to address this sector as this is considered to be not so Tech Savvy.</a:t>
            </a:r>
          </a:p>
          <a:p>
            <a:pPr marL="171450" indent="-171450">
              <a:buFont typeface="Arial" panose="020B0604020202020204" pitchFamily="34" charset="0"/>
              <a:buChar char="•"/>
            </a:pPr>
            <a:endParaRPr lang="en-US" sz="1400" dirty="0"/>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C065EEC-BF9B-40A0-804B-787F67593E82}"/>
                  </a:ext>
                </a:extLst>
              </p14:cNvPr>
              <p14:cNvContentPartPr/>
              <p14:nvPr/>
            </p14:nvContentPartPr>
            <p14:xfrm>
              <a:off x="11797184" y="3258360"/>
              <a:ext cx="93240" cy="31680"/>
            </p14:xfrm>
          </p:contentPart>
        </mc:Choice>
        <mc:Fallback xmlns="">
          <p:pic>
            <p:nvPicPr>
              <p:cNvPr id="3" name="Ink 2">
                <a:extLst>
                  <a:ext uri="{FF2B5EF4-FFF2-40B4-BE49-F238E27FC236}">
                    <a16:creationId xmlns:a16="http://schemas.microsoft.com/office/drawing/2014/main" id="{AC065EEC-BF9B-40A0-804B-787F67593E82}"/>
                  </a:ext>
                </a:extLst>
              </p:cNvPr>
              <p:cNvPicPr/>
              <p:nvPr/>
            </p:nvPicPr>
            <p:blipFill>
              <a:blip r:embed="rId3"/>
              <a:stretch>
                <a:fillRect/>
              </a:stretch>
            </p:blipFill>
            <p:spPr>
              <a:xfrm>
                <a:off x="11788184" y="3249360"/>
                <a:ext cx="110880" cy="49320"/>
              </a:xfrm>
              <a:prstGeom prst="rect">
                <a:avLst/>
              </a:prstGeom>
            </p:spPr>
          </p:pic>
        </mc:Fallback>
      </mc:AlternateContent>
    </p:spTree>
    <p:extLst>
      <p:ext uri="{BB962C8B-B14F-4D97-AF65-F5344CB8AC3E}">
        <p14:creationId xmlns:p14="http://schemas.microsoft.com/office/powerpoint/2010/main" val="4039014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F75766F-C09F-44A1-B9A3-403D6D417DAF}"/>
              </a:ext>
            </a:extLst>
          </p:cNvPr>
          <p:cNvSpPr/>
          <p:nvPr/>
        </p:nvSpPr>
        <p:spPr>
          <a:xfrm>
            <a:off x="748145" y="1157798"/>
            <a:ext cx="10986655" cy="1162159"/>
          </a:xfrm>
          <a:prstGeom prst="roundRect">
            <a:avLst>
              <a:gd name="adj" fmla="val 10752"/>
            </a:avLst>
          </a:prstGeom>
          <a:solidFill>
            <a:srgbClr val="58C198"/>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Title 4">
            <a:extLst>
              <a:ext uri="{FF2B5EF4-FFF2-40B4-BE49-F238E27FC236}">
                <a16:creationId xmlns:a16="http://schemas.microsoft.com/office/drawing/2014/main" id="{898AAB26-0D29-4CE3-9E1F-EB546651B2A9}"/>
              </a:ext>
            </a:extLst>
          </p:cNvPr>
          <p:cNvSpPr>
            <a:spLocks noGrp="1"/>
          </p:cNvSpPr>
          <p:nvPr>
            <p:ph type="title"/>
          </p:nvPr>
        </p:nvSpPr>
        <p:spPr/>
        <p:txBody>
          <a:bodyPr/>
          <a:lstStyle/>
          <a:p>
            <a:r>
              <a:rPr lang="en-US" dirty="0"/>
              <a:t>Cost and Revenue Structure</a:t>
            </a:r>
            <a:endParaRPr lang="en-IN" dirty="0"/>
          </a:p>
        </p:txBody>
      </p:sp>
      <p:sp>
        <p:nvSpPr>
          <p:cNvPr id="8" name="TextBox 7">
            <a:extLst>
              <a:ext uri="{FF2B5EF4-FFF2-40B4-BE49-F238E27FC236}">
                <a16:creationId xmlns:a16="http://schemas.microsoft.com/office/drawing/2014/main" id="{AF237D6C-BE9F-4B24-BB63-217E6BED163C}"/>
              </a:ext>
            </a:extLst>
          </p:cNvPr>
          <p:cNvSpPr txBox="1"/>
          <p:nvPr/>
        </p:nvSpPr>
        <p:spPr>
          <a:xfrm>
            <a:off x="1278709" y="1273517"/>
            <a:ext cx="10316943" cy="1138773"/>
          </a:xfrm>
          <a:prstGeom prst="rect">
            <a:avLst/>
          </a:prstGeom>
          <a:noFill/>
        </p:spPr>
        <p:txBody>
          <a:bodyPr wrap="square" rtlCol="0">
            <a:spAutoFit/>
          </a:bodyPr>
          <a:lstStyle/>
          <a:p>
            <a:pPr marL="171450" indent="-171450">
              <a:buFont typeface="Arial" panose="020B0604020202020204" pitchFamily="34" charset="0"/>
              <a:buChar char="•"/>
            </a:pPr>
            <a:r>
              <a:rPr lang="en-US" sz="1800" b="1" dirty="0">
                <a:solidFill>
                  <a:schemeClr val="bg1"/>
                </a:solidFill>
              </a:rPr>
              <a:t>Engineering Resources</a:t>
            </a:r>
          </a:p>
          <a:p>
            <a:pPr marL="171450" indent="-171450">
              <a:buFont typeface="Arial" panose="020B0604020202020204" pitchFamily="34" charset="0"/>
              <a:buChar char="•"/>
            </a:pPr>
            <a:r>
              <a:rPr lang="en-US" sz="1800" b="1" dirty="0">
                <a:solidFill>
                  <a:schemeClr val="bg1"/>
                </a:solidFill>
              </a:rPr>
              <a:t>Infrastructure cost</a:t>
            </a:r>
          </a:p>
          <a:p>
            <a:pPr marL="171450" indent="-171450">
              <a:buFont typeface="Arial" panose="020B0604020202020204" pitchFamily="34" charset="0"/>
              <a:buChar char="•"/>
            </a:pPr>
            <a:r>
              <a:rPr lang="en-US" sz="1800" b="1" dirty="0">
                <a:solidFill>
                  <a:schemeClr val="bg1"/>
                </a:solidFill>
              </a:rPr>
              <a:t>POC Cost (Include travel and accommodation costs of Engineers at client site)</a:t>
            </a:r>
          </a:p>
          <a:p>
            <a:pPr marL="171450" indent="-171450">
              <a:buFont typeface="Arial" panose="020B0604020202020204" pitchFamily="34" charset="0"/>
              <a:buChar char="•"/>
            </a:pPr>
            <a:endParaRPr lang="en-US" sz="1400" dirty="0"/>
          </a:p>
        </p:txBody>
      </p:sp>
    </p:spTree>
    <p:extLst>
      <p:ext uri="{BB962C8B-B14F-4D97-AF65-F5344CB8AC3E}">
        <p14:creationId xmlns:p14="http://schemas.microsoft.com/office/powerpoint/2010/main" val="2312554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FF398EB-2103-4FC1-AE7F-EC38CF955907}"/>
              </a:ext>
            </a:extLst>
          </p:cNvPr>
          <p:cNvSpPr>
            <a:spLocks noGrp="1"/>
          </p:cNvSpPr>
          <p:nvPr>
            <p:ph type="title"/>
          </p:nvPr>
        </p:nvSpPr>
        <p:spPr/>
        <p:txBody>
          <a:bodyPr/>
          <a:lstStyle/>
          <a:p>
            <a:r>
              <a:rPr lang="en-US" dirty="0"/>
              <a:t>Demo</a:t>
            </a:r>
            <a:endParaRPr lang="en-IN" dirty="0"/>
          </a:p>
        </p:txBody>
      </p:sp>
    </p:spTree>
    <p:extLst>
      <p:ext uri="{BB962C8B-B14F-4D97-AF65-F5344CB8AC3E}">
        <p14:creationId xmlns:p14="http://schemas.microsoft.com/office/powerpoint/2010/main" val="2347942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2389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13A8EF4-0D90-4B61-9623-B23F7B0E959B}"/>
              </a:ext>
            </a:extLst>
          </p:cNvPr>
          <p:cNvSpPr>
            <a:spLocks noGrp="1"/>
          </p:cNvSpPr>
          <p:nvPr>
            <p:ph type="title"/>
          </p:nvPr>
        </p:nvSpPr>
        <p:spPr/>
        <p:txBody>
          <a:bodyPr/>
          <a:lstStyle/>
          <a:p>
            <a:r>
              <a:rPr lang="en-US"/>
              <a:t>THANK YOU</a:t>
            </a:r>
            <a:endParaRPr lang="en-IN" dirty="0"/>
          </a:p>
        </p:txBody>
      </p:sp>
    </p:spTree>
    <p:extLst>
      <p:ext uri="{BB962C8B-B14F-4D97-AF65-F5344CB8AC3E}">
        <p14:creationId xmlns:p14="http://schemas.microsoft.com/office/powerpoint/2010/main" val="3190885736"/>
      </p:ext>
    </p:extLst>
  </p:cSld>
  <p:clrMapOvr>
    <a:masterClrMapping/>
  </p:clrMapOvr>
</p:sld>
</file>

<file path=ppt/theme/theme1.xml><?xml version="1.0" encoding="utf-8"?>
<a:theme xmlns:a="http://schemas.openxmlformats.org/drawingml/2006/main" name="Custom Design">
  <a:themeElements>
    <a:clrScheme name="Custom 10">
      <a:dk1>
        <a:srgbClr val="525252"/>
      </a:dk1>
      <a:lt1>
        <a:srgbClr val="FFFFFF"/>
      </a:lt1>
      <a:dk2>
        <a:srgbClr val="A4A4A4"/>
      </a:dk2>
      <a:lt2>
        <a:srgbClr val="E7E6E6"/>
      </a:lt2>
      <a:accent1>
        <a:srgbClr val="02B3F8"/>
      </a:accent1>
      <a:accent2>
        <a:srgbClr val="B81414"/>
      </a:accent2>
      <a:accent3>
        <a:srgbClr val="A5A5A5"/>
      </a:accent3>
      <a:accent4>
        <a:srgbClr val="2785AC"/>
      </a:accent4>
      <a:accent5>
        <a:srgbClr val="2395D7"/>
      </a:accent5>
      <a:accent6>
        <a:srgbClr val="70AD47"/>
      </a:accent6>
      <a:hlink>
        <a:srgbClr val="0563C1"/>
      </a:hlink>
      <a:folHlink>
        <a:srgbClr val="954F72"/>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8" id="{5E0714D6-F825-004A-9C1C-C58B29AFCAA1}" vid="{EFC4A67A-708B-3349-96F4-33E4F1A956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Unknown Document Type" ma:contentTypeID="0x010104" ma:contentTypeVersion="0" ma:contentTypeDescription="" ma:contentTypeScope="" ma:versionID="05d83ceaa0bbd2e3bc716e6e66bd857a">
  <xsd:schema xmlns:xsd="http://www.w3.org/2001/XMLSchema" xmlns:xs="http://www.w3.org/2001/XMLSchema" xmlns:p="http://schemas.microsoft.com/office/2006/metadata/properties" targetNamespace="http://schemas.microsoft.com/office/2006/metadata/properties" ma:root="true" ma:fieldsID="b3d69fe45253d5ff147bb69036b756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9E1179C-BDA5-45EA-AD90-D6B77F7164C2}">
  <ds:schemaRefs>
    <ds:schemaRef ds:uri="http://schemas.microsoft.com/sharepoint/v3/contenttype/forms"/>
  </ds:schemaRefs>
</ds:datastoreItem>
</file>

<file path=customXml/itemProps2.xml><?xml version="1.0" encoding="utf-8"?>
<ds:datastoreItem xmlns:ds="http://schemas.openxmlformats.org/officeDocument/2006/customXml" ds:itemID="{8B753F6C-A963-4230-A820-7F456A3657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A1606B81-948D-43E5-B215-6DF7E9A5B19C}">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17646</TotalTime>
  <Words>536</Words>
  <Application>Microsoft Office PowerPoint</Application>
  <PresentationFormat>Widescreen</PresentationFormat>
  <Paragraphs>46</Paragraphs>
  <Slides>9</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Franklin Gothic Book</vt:lpstr>
      <vt:lpstr>Franklin Gothic Demi Cond</vt:lpstr>
      <vt:lpstr>Franklin Gothic Medium</vt:lpstr>
      <vt:lpstr>Franklin Gothic Medium Cond</vt:lpstr>
      <vt:lpstr>Myriad Pro Regular</vt:lpstr>
      <vt:lpstr>Custom Design</vt:lpstr>
      <vt:lpstr>PowerPoint Presentation</vt:lpstr>
      <vt:lpstr>The Problem</vt:lpstr>
      <vt:lpstr>UDATA: Value Proposition</vt:lpstr>
      <vt:lpstr>Our Approach</vt:lpstr>
      <vt:lpstr>Our First Target Segment - Manufacturing Sector---WHY?</vt:lpstr>
      <vt:lpstr>Cost and Revenue Structure</vt:lpstr>
      <vt:lpstr>Demo</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Vinay Kumar Vijayakumar (UST, IND)</dc:creator>
  <cp:keywords>CTPClassification=CTP_NT</cp:keywords>
  <cp:lastModifiedBy>Dutt, NitinX</cp:lastModifiedBy>
  <cp:revision>949</cp:revision>
  <dcterms:created xsi:type="dcterms:W3CDTF">2017-02-28T01:53:19Z</dcterms:created>
  <dcterms:modified xsi:type="dcterms:W3CDTF">2019-10-28T15:28:29Z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2b20b057-e6fd-4df0-9afb-80ee5b7f5fb1</vt:lpwstr>
  </property>
  <property fmtid="{D5CDD505-2E9C-101B-9397-08002B2CF9AE}" pid="3" name="CTP_TimeStamp">
    <vt:lpwstr>2019-10-28 15:28:28Z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ies>
</file>